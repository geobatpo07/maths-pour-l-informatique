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5" d="100"/>
          <a:sy n="75" d="100"/>
        </p:scale>
        <p:origin x="72" y="30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4942099-23A9-4331-9FDF-D635200C9305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4F286F8A-1075-4312-8FD1-CC5E76EF798D}">
      <dgm:prSet/>
      <dgm:spPr/>
      <dgm:t>
        <a:bodyPr/>
        <a:lstStyle/>
        <a:p>
          <a:r>
            <a:rPr lang="en-US"/>
            <a:t>Règle du produit : m étapes × n issues → m·n issues</a:t>
          </a:r>
        </a:p>
      </dgm:t>
    </dgm:pt>
    <dgm:pt modelId="{DA54F0C2-51BF-4F1E-9ACD-6D8E5077A5D4}" type="parTrans" cxnId="{0A2B4B40-8924-4948-8C35-80E8828E642B}">
      <dgm:prSet/>
      <dgm:spPr/>
      <dgm:t>
        <a:bodyPr/>
        <a:lstStyle/>
        <a:p>
          <a:endParaRPr lang="en-US"/>
        </a:p>
      </dgm:t>
    </dgm:pt>
    <dgm:pt modelId="{AC851108-7EBA-4B0C-A829-AC69B442C474}" type="sibTrans" cxnId="{0A2B4B40-8924-4948-8C35-80E8828E642B}">
      <dgm:prSet/>
      <dgm:spPr/>
      <dgm:t>
        <a:bodyPr/>
        <a:lstStyle/>
        <a:p>
          <a:endParaRPr lang="en-US"/>
        </a:p>
      </dgm:t>
    </dgm:pt>
    <dgm:pt modelId="{AF7A61BE-D0BA-41C6-AC77-BC3B1AC11659}">
      <dgm:prSet/>
      <dgm:spPr/>
      <dgm:t>
        <a:bodyPr/>
        <a:lstStyle/>
        <a:p>
          <a:r>
            <a:rPr lang="en-US"/>
            <a:t>Règle de la somme : cas disjoints → addition</a:t>
          </a:r>
        </a:p>
      </dgm:t>
    </dgm:pt>
    <dgm:pt modelId="{94DF1C34-EC4F-48F2-9B29-B42441A71151}" type="parTrans" cxnId="{F43BF1C8-90C3-4D9D-9308-6BCBD62BE0DE}">
      <dgm:prSet/>
      <dgm:spPr/>
      <dgm:t>
        <a:bodyPr/>
        <a:lstStyle/>
        <a:p>
          <a:endParaRPr lang="en-US"/>
        </a:p>
      </dgm:t>
    </dgm:pt>
    <dgm:pt modelId="{AFA6A89E-248E-4349-8ACB-B837A437F59A}" type="sibTrans" cxnId="{F43BF1C8-90C3-4D9D-9308-6BCBD62BE0DE}">
      <dgm:prSet/>
      <dgm:spPr/>
      <dgm:t>
        <a:bodyPr/>
        <a:lstStyle/>
        <a:p>
          <a:endParaRPr lang="en-US"/>
        </a:p>
      </dgm:t>
    </dgm:pt>
    <dgm:pt modelId="{EE1E6FCC-8EA6-4C9C-8F54-D28F502298AE}">
      <dgm:prSet/>
      <dgm:spPr/>
      <dgm:t>
        <a:bodyPr/>
        <a:lstStyle/>
        <a:p>
          <a:r>
            <a:rPr lang="en-US"/>
            <a:t>Principe des cases (pigeons)</a:t>
          </a:r>
        </a:p>
      </dgm:t>
    </dgm:pt>
    <dgm:pt modelId="{387064C5-01C9-4D6C-9149-E9AE8CA0297A}" type="parTrans" cxnId="{9931DAF3-6095-4597-A347-A79F876738AE}">
      <dgm:prSet/>
      <dgm:spPr/>
      <dgm:t>
        <a:bodyPr/>
        <a:lstStyle/>
        <a:p>
          <a:endParaRPr lang="en-US"/>
        </a:p>
      </dgm:t>
    </dgm:pt>
    <dgm:pt modelId="{033E3F6F-A1B5-4D76-BA35-D1B9CA683A1C}" type="sibTrans" cxnId="{9931DAF3-6095-4597-A347-A79F876738AE}">
      <dgm:prSet/>
      <dgm:spPr/>
      <dgm:t>
        <a:bodyPr/>
        <a:lstStyle/>
        <a:p>
          <a:endParaRPr lang="en-US"/>
        </a:p>
      </dgm:t>
    </dgm:pt>
    <dgm:pt modelId="{3449A106-E293-4E3C-B0D1-9ECC346B4904}">
      <dgm:prSet/>
      <dgm:spPr/>
      <dgm:t>
        <a:bodyPr/>
        <a:lstStyle/>
        <a:p>
          <a:r>
            <a:rPr lang="en-US"/>
            <a:t>Arrangements, permutations, combinaisons</a:t>
          </a:r>
        </a:p>
      </dgm:t>
    </dgm:pt>
    <dgm:pt modelId="{CA601E27-2763-48C3-9017-C0CE952E21A7}" type="parTrans" cxnId="{F581000E-1D52-46B1-8886-3F312707B55E}">
      <dgm:prSet/>
      <dgm:spPr/>
      <dgm:t>
        <a:bodyPr/>
        <a:lstStyle/>
        <a:p>
          <a:endParaRPr lang="en-US"/>
        </a:p>
      </dgm:t>
    </dgm:pt>
    <dgm:pt modelId="{854D7EAD-8CC5-4B07-AFE5-6D6AFC56AFB6}" type="sibTrans" cxnId="{F581000E-1D52-46B1-8886-3F312707B55E}">
      <dgm:prSet/>
      <dgm:spPr/>
      <dgm:t>
        <a:bodyPr/>
        <a:lstStyle/>
        <a:p>
          <a:endParaRPr lang="en-US"/>
        </a:p>
      </dgm:t>
    </dgm:pt>
    <dgm:pt modelId="{940F37EC-18B7-4775-ACC3-2EE4EFF3C311}" type="pres">
      <dgm:prSet presAssocID="{94942099-23A9-4331-9FDF-D635200C9305}" presName="matrix" presStyleCnt="0">
        <dgm:presLayoutVars>
          <dgm:chMax val="1"/>
          <dgm:dir/>
          <dgm:resizeHandles val="exact"/>
        </dgm:presLayoutVars>
      </dgm:prSet>
      <dgm:spPr/>
    </dgm:pt>
    <dgm:pt modelId="{8978044D-7342-47B1-BBF0-2097CA249C74}" type="pres">
      <dgm:prSet presAssocID="{94942099-23A9-4331-9FDF-D635200C9305}" presName="diamond" presStyleLbl="bgShp" presStyleIdx="0" presStyleCnt="1"/>
      <dgm:spPr/>
    </dgm:pt>
    <dgm:pt modelId="{2A59355E-7B81-47E2-B754-7981EF8B8F95}" type="pres">
      <dgm:prSet presAssocID="{94942099-23A9-4331-9FDF-D635200C9305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666CA652-63F1-4FEA-A94F-E330FFBDC81F}" type="pres">
      <dgm:prSet presAssocID="{94942099-23A9-4331-9FDF-D635200C9305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A11E6C60-AA2C-4C8D-861B-15DC37BAD685}" type="pres">
      <dgm:prSet presAssocID="{94942099-23A9-4331-9FDF-D635200C9305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39F70A13-9788-4F5E-94F3-9CCAE5953E0A}" type="pres">
      <dgm:prSet presAssocID="{94942099-23A9-4331-9FDF-D635200C9305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F581000E-1D52-46B1-8886-3F312707B55E}" srcId="{94942099-23A9-4331-9FDF-D635200C9305}" destId="{3449A106-E293-4E3C-B0D1-9ECC346B4904}" srcOrd="3" destOrd="0" parTransId="{CA601E27-2763-48C3-9017-C0CE952E21A7}" sibTransId="{854D7EAD-8CC5-4B07-AFE5-6D6AFC56AFB6}"/>
    <dgm:cxn modelId="{35B21F29-53F2-41BC-B2A3-23B2CF0B00A3}" type="presOf" srcId="{3449A106-E293-4E3C-B0D1-9ECC346B4904}" destId="{39F70A13-9788-4F5E-94F3-9CCAE5953E0A}" srcOrd="0" destOrd="0" presId="urn:microsoft.com/office/officeart/2005/8/layout/matrix3"/>
    <dgm:cxn modelId="{0A2B4B40-8924-4948-8C35-80E8828E642B}" srcId="{94942099-23A9-4331-9FDF-D635200C9305}" destId="{4F286F8A-1075-4312-8FD1-CC5E76EF798D}" srcOrd="0" destOrd="0" parTransId="{DA54F0C2-51BF-4F1E-9ACD-6D8E5077A5D4}" sibTransId="{AC851108-7EBA-4B0C-A829-AC69B442C474}"/>
    <dgm:cxn modelId="{25FE5472-4BB7-4D51-AAF4-E2DE16CF0B6D}" type="presOf" srcId="{AF7A61BE-D0BA-41C6-AC77-BC3B1AC11659}" destId="{666CA652-63F1-4FEA-A94F-E330FFBDC81F}" srcOrd="0" destOrd="0" presId="urn:microsoft.com/office/officeart/2005/8/layout/matrix3"/>
    <dgm:cxn modelId="{A7510CB8-7327-4506-9BDF-70FC8F2E15AE}" type="presOf" srcId="{4F286F8A-1075-4312-8FD1-CC5E76EF798D}" destId="{2A59355E-7B81-47E2-B754-7981EF8B8F95}" srcOrd="0" destOrd="0" presId="urn:microsoft.com/office/officeart/2005/8/layout/matrix3"/>
    <dgm:cxn modelId="{4AC4B9C3-DA75-4620-818F-95FF86A6A26F}" type="presOf" srcId="{EE1E6FCC-8EA6-4C9C-8F54-D28F502298AE}" destId="{A11E6C60-AA2C-4C8D-861B-15DC37BAD685}" srcOrd="0" destOrd="0" presId="urn:microsoft.com/office/officeart/2005/8/layout/matrix3"/>
    <dgm:cxn modelId="{F43BF1C8-90C3-4D9D-9308-6BCBD62BE0DE}" srcId="{94942099-23A9-4331-9FDF-D635200C9305}" destId="{AF7A61BE-D0BA-41C6-AC77-BC3B1AC11659}" srcOrd="1" destOrd="0" parTransId="{94DF1C34-EC4F-48F2-9B29-B42441A71151}" sibTransId="{AFA6A89E-248E-4349-8ACB-B837A437F59A}"/>
    <dgm:cxn modelId="{9931DAF3-6095-4597-A347-A79F876738AE}" srcId="{94942099-23A9-4331-9FDF-D635200C9305}" destId="{EE1E6FCC-8EA6-4C9C-8F54-D28F502298AE}" srcOrd="2" destOrd="0" parTransId="{387064C5-01C9-4D6C-9149-E9AE8CA0297A}" sibTransId="{033E3F6F-A1B5-4D76-BA35-D1B9CA683A1C}"/>
    <dgm:cxn modelId="{5021A7F6-E01D-4752-AD7C-406DD6596816}" type="presOf" srcId="{94942099-23A9-4331-9FDF-D635200C9305}" destId="{940F37EC-18B7-4775-ACC3-2EE4EFF3C311}" srcOrd="0" destOrd="0" presId="urn:microsoft.com/office/officeart/2005/8/layout/matrix3"/>
    <dgm:cxn modelId="{C845E717-C978-473B-9033-BB1A712CA733}" type="presParOf" srcId="{940F37EC-18B7-4775-ACC3-2EE4EFF3C311}" destId="{8978044D-7342-47B1-BBF0-2097CA249C74}" srcOrd="0" destOrd="0" presId="urn:microsoft.com/office/officeart/2005/8/layout/matrix3"/>
    <dgm:cxn modelId="{8B6E7CF4-F29C-4E1C-B45E-78BB8DD2E962}" type="presParOf" srcId="{940F37EC-18B7-4775-ACC3-2EE4EFF3C311}" destId="{2A59355E-7B81-47E2-B754-7981EF8B8F95}" srcOrd="1" destOrd="0" presId="urn:microsoft.com/office/officeart/2005/8/layout/matrix3"/>
    <dgm:cxn modelId="{6F98D44E-D0A3-4640-B368-3C72147CDE57}" type="presParOf" srcId="{940F37EC-18B7-4775-ACC3-2EE4EFF3C311}" destId="{666CA652-63F1-4FEA-A94F-E330FFBDC81F}" srcOrd="2" destOrd="0" presId="urn:microsoft.com/office/officeart/2005/8/layout/matrix3"/>
    <dgm:cxn modelId="{9225D144-D5E5-4F8F-AA5F-ED08A8554142}" type="presParOf" srcId="{940F37EC-18B7-4775-ACC3-2EE4EFF3C311}" destId="{A11E6C60-AA2C-4C8D-861B-15DC37BAD685}" srcOrd="3" destOrd="0" presId="urn:microsoft.com/office/officeart/2005/8/layout/matrix3"/>
    <dgm:cxn modelId="{993FD6F0-CD39-4FD1-91FC-C8A155C4F66E}" type="presParOf" srcId="{940F37EC-18B7-4775-ACC3-2EE4EFF3C311}" destId="{39F70A13-9788-4F5E-94F3-9CCAE5953E0A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978044D-7342-47B1-BBF0-2097CA249C74}">
      <dsp:nvSpPr>
        <dsp:cNvPr id="0" name=""/>
        <dsp:cNvSpPr/>
      </dsp:nvSpPr>
      <dsp:spPr>
        <a:xfrm>
          <a:off x="365760" y="0"/>
          <a:ext cx="4480560" cy="4480560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A59355E-7B81-47E2-B754-7981EF8B8F95}">
      <dsp:nvSpPr>
        <dsp:cNvPr id="0" name=""/>
        <dsp:cNvSpPr/>
      </dsp:nvSpPr>
      <dsp:spPr>
        <a:xfrm>
          <a:off x="791413" y="425653"/>
          <a:ext cx="1747418" cy="174741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Règle du produit : m étapes × n issues → m·n issues</a:t>
          </a:r>
        </a:p>
      </dsp:txBody>
      <dsp:txXfrm>
        <a:off x="876715" y="510955"/>
        <a:ext cx="1576814" cy="1576814"/>
      </dsp:txXfrm>
    </dsp:sp>
    <dsp:sp modelId="{666CA652-63F1-4FEA-A94F-E330FFBDC81F}">
      <dsp:nvSpPr>
        <dsp:cNvPr id="0" name=""/>
        <dsp:cNvSpPr/>
      </dsp:nvSpPr>
      <dsp:spPr>
        <a:xfrm>
          <a:off x="2673248" y="425653"/>
          <a:ext cx="1747418" cy="174741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Règle de la somme : cas disjoints → addition</a:t>
          </a:r>
        </a:p>
      </dsp:txBody>
      <dsp:txXfrm>
        <a:off x="2758550" y="510955"/>
        <a:ext cx="1576814" cy="1576814"/>
      </dsp:txXfrm>
    </dsp:sp>
    <dsp:sp modelId="{A11E6C60-AA2C-4C8D-861B-15DC37BAD685}">
      <dsp:nvSpPr>
        <dsp:cNvPr id="0" name=""/>
        <dsp:cNvSpPr/>
      </dsp:nvSpPr>
      <dsp:spPr>
        <a:xfrm>
          <a:off x="791413" y="2307488"/>
          <a:ext cx="1747418" cy="174741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Principe des cases (pigeons)</a:t>
          </a:r>
        </a:p>
      </dsp:txBody>
      <dsp:txXfrm>
        <a:off x="876715" y="2392790"/>
        <a:ext cx="1576814" cy="1576814"/>
      </dsp:txXfrm>
    </dsp:sp>
    <dsp:sp modelId="{39F70A13-9788-4F5E-94F3-9CCAE5953E0A}">
      <dsp:nvSpPr>
        <dsp:cNvPr id="0" name=""/>
        <dsp:cNvSpPr/>
      </dsp:nvSpPr>
      <dsp:spPr>
        <a:xfrm>
          <a:off x="2673248" y="2307488"/>
          <a:ext cx="1747418" cy="174741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Arrangements, permutations, combinaisons</a:t>
          </a:r>
        </a:p>
      </dsp:txBody>
      <dsp:txXfrm>
        <a:off x="2758550" y="2392790"/>
        <a:ext cx="1576814" cy="157681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8632" y="182880"/>
            <a:ext cx="1342103" cy="640080"/>
          </a:xfrm>
          <a:prstGeom prst="rect">
            <a:avLst/>
          </a:prstGeom>
        </p:spPr>
      </p:pic>
      <p:pic>
        <p:nvPicPr>
          <p:cNvPr id="4" name="Picture 3" descr="log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43032" y="182880"/>
            <a:ext cx="1497874" cy="640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1097280"/>
            <a:ext cx="896112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005BAB"/>
                </a:solidFill>
              </a:rPr>
              <a:t>Combinatoire &amp; Probabilités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105156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solidFill>
                  <a:srgbClr val="5A5A5A"/>
                </a:solidFill>
              </a:rPr>
              <a:t>Principes de dénombrement · Événements · Probabilités (base &amp; conditionnelle) · Bayes · Moments · Lois usuelles · Mini‑projet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CD81A2A-6ED4-4EF4-A14C-912D31E148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8882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7981" y="365125"/>
            <a:ext cx="5391957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Plan de la séance</a:t>
            </a: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1661932C-CA15-4E17-B115-FAE7CBEE47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196001" y="1"/>
            <a:ext cx="1154841" cy="625027"/>
          </a:xfrm>
          <a:custGeom>
            <a:avLst/>
            <a:gdLst>
              <a:gd name="connsiteX0" fmla="*/ 4784 w 1155142"/>
              <a:gd name="connsiteY0" fmla="*/ 0 h 625027"/>
              <a:gd name="connsiteX1" fmla="*/ 1150358 w 1155142"/>
              <a:gd name="connsiteY1" fmla="*/ 0 h 625027"/>
              <a:gd name="connsiteX2" fmla="*/ 1155142 w 1155142"/>
              <a:gd name="connsiteY2" fmla="*/ 47456 h 625027"/>
              <a:gd name="connsiteX3" fmla="*/ 577571 w 1155142"/>
              <a:gd name="connsiteY3" fmla="*/ 625027 h 625027"/>
              <a:gd name="connsiteX4" fmla="*/ 0 w 1155142"/>
              <a:gd name="connsiteY4" fmla="*/ 47456 h 6250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625027">
                <a:moveTo>
                  <a:pt x="4784" y="0"/>
                </a:moveTo>
                <a:lnTo>
                  <a:pt x="1150358" y="0"/>
                </a:lnTo>
                <a:lnTo>
                  <a:pt x="1155142" y="47456"/>
                </a:lnTo>
                <a:cubicBezTo>
                  <a:pt x="1155142" y="366440"/>
                  <a:pt x="896555" y="625027"/>
                  <a:pt x="577571" y="625027"/>
                </a:cubicBezTo>
                <a:cubicBezTo>
                  <a:pt x="258587" y="625027"/>
                  <a:pt x="0" y="366440"/>
                  <a:pt x="0" y="47456"/>
                </a:cubicBezTo>
                <a:close/>
              </a:path>
            </a:pathLst>
          </a:custGeom>
          <a:solidFill>
            <a:schemeClr val="accent5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837981" y="1825625"/>
            <a:ext cx="5391957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200"/>
            </a:pPr>
            <a:r>
              <a:rPr lang="en-US" sz="2200"/>
              <a:t>1) Rappels de combinatoire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200"/>
            </a:pPr>
            <a:r>
              <a:rPr lang="en-US" sz="2200"/>
              <a:t>2) Univers, événements, axiomes de Kolmogorov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200"/>
            </a:pPr>
            <a:r>
              <a:rPr lang="en-US" sz="2200"/>
              <a:t>3) Formules de base : somme, produit, inclusion‑exclusion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200"/>
            </a:pPr>
            <a:r>
              <a:rPr lang="en-US" sz="2200"/>
              <a:t>4) Probabilité conditionnelle, indépendance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200"/>
            </a:pPr>
            <a:r>
              <a:rPr lang="en-US" sz="2200"/>
              <a:t>5) Formule de Bayes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200"/>
            </a:pPr>
            <a:r>
              <a:rPr lang="en-US" sz="2200"/>
              <a:t>6) Moments : espérance, variance, covariance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200"/>
            </a:pPr>
            <a:r>
              <a:rPr lang="en-US" sz="2200"/>
              <a:t>7) Lois de probabilité usuelles (discrètes &amp; continues)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200"/>
            </a:pPr>
            <a:r>
              <a:rPr lang="en-US" sz="2200"/>
              <a:t>8) Vers le mini‑projet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8590ADD5-9383-4D3D-9047-3DA2593CCB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06412" y="3423959"/>
            <a:ext cx="540681" cy="540822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5130" y="2205611"/>
            <a:ext cx="3780066" cy="1802800"/>
          </a:xfrm>
          <a:custGeom>
            <a:avLst/>
            <a:gdLst/>
            <a:ahLst/>
            <a:cxnLst/>
            <a:rect l="l" t="t" r="r" b="b"/>
            <a:pathLst>
              <a:path w="4114800" h="5712488">
                <a:moveTo>
                  <a:pt x="133155" y="0"/>
                </a:moveTo>
                <a:lnTo>
                  <a:pt x="3981645" y="0"/>
                </a:lnTo>
                <a:cubicBezTo>
                  <a:pt x="4055184" y="0"/>
                  <a:pt x="4114800" y="59616"/>
                  <a:pt x="4114800" y="133155"/>
                </a:cubicBezTo>
                <a:lnTo>
                  <a:pt x="4114800" y="5579333"/>
                </a:lnTo>
                <a:cubicBezTo>
                  <a:pt x="4114800" y="5652872"/>
                  <a:pt x="4055184" y="5712488"/>
                  <a:pt x="3981645" y="5712488"/>
                </a:cubicBezTo>
                <a:lnTo>
                  <a:pt x="133155" y="5712488"/>
                </a:lnTo>
                <a:cubicBezTo>
                  <a:pt x="59616" y="5712488"/>
                  <a:pt x="0" y="5652872"/>
                  <a:pt x="0" y="5579333"/>
                </a:cubicBezTo>
                <a:lnTo>
                  <a:pt x="0" y="133155"/>
                </a:lnTo>
                <a:cubicBezTo>
                  <a:pt x="0" y="59616"/>
                  <a:pt x="59616" y="0"/>
                  <a:pt x="133155" y="0"/>
                </a:cubicBezTo>
                <a:close/>
              </a:path>
            </a:pathLst>
          </a:custGeom>
        </p:spPr>
      </p:pic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DABE3E45-88CF-45D8-8D40-C773324D93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47844" y="1"/>
            <a:ext cx="2066410" cy="1621879"/>
          </a:xfrm>
          <a:custGeom>
            <a:avLst/>
            <a:gdLst>
              <a:gd name="connsiteX0" fmla="*/ 0 w 2066948"/>
              <a:gd name="connsiteY0" fmla="*/ 0 h 1621879"/>
              <a:gd name="connsiteX1" fmla="*/ 123825 w 2066948"/>
              <a:gd name="connsiteY1" fmla="*/ 0 h 1621879"/>
              <a:gd name="connsiteX2" fmla="*/ 123825 w 2066948"/>
              <a:gd name="connsiteY2" fmla="*/ 1452620 h 1621879"/>
              <a:gd name="connsiteX3" fmla="*/ 1881378 w 2066948"/>
              <a:gd name="connsiteY3" fmla="*/ 436017 h 1621879"/>
              <a:gd name="connsiteX4" fmla="*/ 1127572 w 2066948"/>
              <a:gd name="connsiteY4" fmla="*/ 0 h 1621879"/>
              <a:gd name="connsiteX5" fmla="*/ 1374887 w 2066948"/>
              <a:gd name="connsiteY5" fmla="*/ 0 h 1621879"/>
              <a:gd name="connsiteX6" fmla="*/ 2035969 w 2066948"/>
              <a:gd name="connsiteY6" fmla="*/ 382391 h 1621879"/>
              <a:gd name="connsiteX7" fmla="*/ 2058648 w 2066948"/>
              <a:gd name="connsiteY7" fmla="*/ 466963 h 1621879"/>
              <a:gd name="connsiteX8" fmla="*/ 2035969 w 2066948"/>
              <a:gd name="connsiteY8" fmla="*/ 489642 h 1621879"/>
              <a:gd name="connsiteX9" fmla="*/ 92869 w 2066948"/>
              <a:gd name="connsiteY9" fmla="*/ 1613592 h 1621879"/>
              <a:gd name="connsiteX10" fmla="*/ 61913 w 2066948"/>
              <a:gd name="connsiteY10" fmla="*/ 1621879 h 1621879"/>
              <a:gd name="connsiteX11" fmla="*/ 0 w 2066948"/>
              <a:gd name="connsiteY11" fmla="*/ 1559967 h 16218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066948" h="1621879">
                <a:moveTo>
                  <a:pt x="0" y="0"/>
                </a:moveTo>
                <a:lnTo>
                  <a:pt x="123825" y="0"/>
                </a:lnTo>
                <a:lnTo>
                  <a:pt x="123825" y="1452620"/>
                </a:lnTo>
                <a:lnTo>
                  <a:pt x="1881378" y="436017"/>
                </a:lnTo>
                <a:lnTo>
                  <a:pt x="1127572" y="0"/>
                </a:lnTo>
                <a:lnTo>
                  <a:pt x="1374887" y="0"/>
                </a:lnTo>
                <a:lnTo>
                  <a:pt x="2035969" y="382391"/>
                </a:lnTo>
                <a:cubicBezTo>
                  <a:pt x="2065582" y="399479"/>
                  <a:pt x="2075745" y="437340"/>
                  <a:pt x="2058648" y="466963"/>
                </a:cubicBezTo>
                <a:cubicBezTo>
                  <a:pt x="2053219" y="476384"/>
                  <a:pt x="2045389" y="484204"/>
                  <a:pt x="2035969" y="489642"/>
                </a:cubicBezTo>
                <a:lnTo>
                  <a:pt x="92869" y="1613592"/>
                </a:lnTo>
                <a:cubicBezTo>
                  <a:pt x="83458" y="1619031"/>
                  <a:pt x="72780" y="1621889"/>
                  <a:pt x="61913" y="1621879"/>
                </a:cubicBezTo>
                <a:cubicBezTo>
                  <a:pt x="27719" y="1621879"/>
                  <a:pt x="0" y="1594161"/>
                  <a:pt x="0" y="1559967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9CD1692-827B-4C8D-B4A1-134FD04CF4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135583" y="1027906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B91ECDA9-56DC-4270-8F33-01C5637B8C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463438">
            <a:off x="7454638" y="5166682"/>
            <a:ext cx="1835247" cy="2024785"/>
          </a:xfrm>
          <a:custGeom>
            <a:avLst/>
            <a:gdLst>
              <a:gd name="connsiteX0" fmla="*/ 1801138 w 1835725"/>
              <a:gd name="connsiteY0" fmla="*/ 1622662 h 2024785"/>
              <a:gd name="connsiteX1" fmla="*/ 1835717 w 1835725"/>
              <a:gd name="connsiteY1" fmla="*/ 1680254 h 2024785"/>
              <a:gd name="connsiteX2" fmla="*/ 1812568 w 1835725"/>
              <a:gd name="connsiteY2" fmla="*/ 1877193 h 2024785"/>
              <a:gd name="connsiteX3" fmla="*/ 1776210 w 1835725"/>
              <a:gd name="connsiteY3" fmla="*/ 2024785 h 2024785"/>
              <a:gd name="connsiteX4" fmla="*/ 1655772 w 1835725"/>
              <a:gd name="connsiteY4" fmla="*/ 1983449 h 2024785"/>
              <a:gd name="connsiteX5" fmla="*/ 1687591 w 1835725"/>
              <a:gd name="connsiteY5" fmla="*/ 1854495 h 2024785"/>
              <a:gd name="connsiteX6" fmla="*/ 1708939 w 1835725"/>
              <a:gd name="connsiteY6" fmla="*/ 1673301 h 2024785"/>
              <a:gd name="connsiteX7" fmla="*/ 1778129 w 1835725"/>
              <a:gd name="connsiteY7" fmla="*/ 1615979 h 2024785"/>
              <a:gd name="connsiteX8" fmla="*/ 1801138 w 1835725"/>
              <a:gd name="connsiteY8" fmla="*/ 1622662 h 2024785"/>
              <a:gd name="connsiteX9" fmla="*/ 1585229 w 1835725"/>
              <a:gd name="connsiteY9" fmla="*/ 764759 h 2024785"/>
              <a:gd name="connsiteX10" fmla="*/ 1623024 w 1835725"/>
              <a:gd name="connsiteY10" fmla="*/ 792810 h 2024785"/>
              <a:gd name="connsiteX11" fmla="*/ 1777614 w 1835725"/>
              <a:gd name="connsiteY11" fmla="*/ 1157141 h 2024785"/>
              <a:gd name="connsiteX12" fmla="*/ 1733799 w 1835725"/>
              <a:gd name="connsiteY12" fmla="*/ 1235532 h 2024785"/>
              <a:gd name="connsiteX13" fmla="*/ 1716464 w 1835725"/>
              <a:gd name="connsiteY13" fmla="*/ 1237722 h 2024785"/>
              <a:gd name="connsiteX14" fmla="*/ 1716464 w 1835725"/>
              <a:gd name="connsiteY14" fmla="*/ 1237913 h 2024785"/>
              <a:gd name="connsiteX15" fmla="*/ 1655409 w 1835725"/>
              <a:gd name="connsiteY15" fmla="*/ 1191717 h 2024785"/>
              <a:gd name="connsiteX16" fmla="*/ 1513200 w 1835725"/>
              <a:gd name="connsiteY16" fmla="*/ 856627 h 2024785"/>
              <a:gd name="connsiteX17" fmla="*/ 1538499 w 1835725"/>
              <a:gd name="connsiteY17" fmla="*/ 770415 h 2024785"/>
              <a:gd name="connsiteX18" fmla="*/ 1585229 w 1835725"/>
              <a:gd name="connsiteY18" fmla="*/ 764759 h 2024785"/>
              <a:gd name="connsiteX19" fmla="*/ 477919 w 1835725"/>
              <a:gd name="connsiteY19" fmla="*/ 21437 h 2024785"/>
              <a:gd name="connsiteX20" fmla="*/ 509236 w 1835725"/>
              <a:gd name="connsiteY20" fmla="*/ 84182 h 2024785"/>
              <a:gd name="connsiteX21" fmla="*/ 445829 w 1835725"/>
              <a:gd name="connsiteY21" fmla="*/ 139871 h 2024785"/>
              <a:gd name="connsiteX22" fmla="*/ 437447 w 1835725"/>
              <a:gd name="connsiteY22" fmla="*/ 139395 h 2024785"/>
              <a:gd name="connsiteX23" fmla="*/ 73211 w 1835725"/>
              <a:gd name="connsiteY23" fmla="*/ 137204 h 2024785"/>
              <a:gd name="connsiteX24" fmla="*/ 749 w 1835725"/>
              <a:gd name="connsiteY24" fmla="*/ 84082 h 2024785"/>
              <a:gd name="connsiteX25" fmla="*/ 53871 w 1835725"/>
              <a:gd name="connsiteY25" fmla="*/ 11621 h 2024785"/>
              <a:gd name="connsiteX26" fmla="*/ 58352 w 1835725"/>
              <a:gd name="connsiteY26" fmla="*/ 11093 h 2024785"/>
              <a:gd name="connsiteX27" fmla="*/ 454020 w 1835725"/>
              <a:gd name="connsiteY27" fmla="*/ 13474 h 2024785"/>
              <a:gd name="connsiteX28" fmla="*/ 477919 w 1835725"/>
              <a:gd name="connsiteY28" fmla="*/ 21437 h 2024785"/>
              <a:gd name="connsiteX29" fmla="*/ 957797 w 1835725"/>
              <a:gd name="connsiteY29" fmla="*/ 167970 h 2024785"/>
              <a:gd name="connsiteX30" fmla="*/ 1286982 w 1835725"/>
              <a:gd name="connsiteY30" fmla="*/ 387616 h 2024785"/>
              <a:gd name="connsiteX31" fmla="*/ 1293725 w 1835725"/>
              <a:gd name="connsiteY31" fmla="*/ 477075 h 2024785"/>
              <a:gd name="connsiteX32" fmla="*/ 1245453 w 1835725"/>
              <a:gd name="connsiteY32" fmla="*/ 499154 h 2024785"/>
              <a:gd name="connsiteX33" fmla="*/ 1245167 w 1835725"/>
              <a:gd name="connsiteY33" fmla="*/ 499154 h 2024785"/>
              <a:gd name="connsiteX34" fmla="*/ 1203638 w 1835725"/>
              <a:gd name="connsiteY34" fmla="*/ 484104 h 2024785"/>
              <a:gd name="connsiteX35" fmla="*/ 900647 w 1835725"/>
              <a:gd name="connsiteY35" fmla="*/ 281508 h 2024785"/>
              <a:gd name="connsiteX36" fmla="*/ 872454 w 1835725"/>
              <a:gd name="connsiteY36" fmla="*/ 196164 h 2024785"/>
              <a:gd name="connsiteX37" fmla="*/ 957797 w 1835725"/>
              <a:gd name="connsiteY37" fmla="*/ 167970 h 2024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835725" h="2024785">
                <a:moveTo>
                  <a:pt x="1801138" y="1622662"/>
                </a:moveTo>
                <a:cubicBezTo>
                  <a:pt x="1822105" y="1633400"/>
                  <a:pt x="1836117" y="1655372"/>
                  <a:pt x="1835717" y="1680254"/>
                </a:cubicBezTo>
                <a:cubicBezTo>
                  <a:pt x="1832093" y="1746382"/>
                  <a:pt x="1824354" y="1812154"/>
                  <a:pt x="1812568" y="1877193"/>
                </a:cubicBezTo>
                <a:lnTo>
                  <a:pt x="1776210" y="2024785"/>
                </a:lnTo>
                <a:lnTo>
                  <a:pt x="1655772" y="1983449"/>
                </a:lnTo>
                <a:lnTo>
                  <a:pt x="1687591" y="1854495"/>
                </a:lnTo>
                <a:cubicBezTo>
                  <a:pt x="1698455" y="1794657"/>
                  <a:pt x="1705590" y="1734142"/>
                  <a:pt x="1708939" y="1673301"/>
                </a:cubicBezTo>
                <a:cubicBezTo>
                  <a:pt x="1712216" y="1638363"/>
                  <a:pt x="1743190" y="1612703"/>
                  <a:pt x="1778129" y="1615979"/>
                </a:cubicBezTo>
                <a:cubicBezTo>
                  <a:pt x="1786387" y="1616753"/>
                  <a:pt x="1794149" y="1619084"/>
                  <a:pt x="1801138" y="1622662"/>
                </a:cubicBezTo>
                <a:close/>
                <a:moveTo>
                  <a:pt x="1585229" y="764759"/>
                </a:moveTo>
                <a:cubicBezTo>
                  <a:pt x="1600438" y="768789"/>
                  <a:pt x="1614156" y="778436"/>
                  <a:pt x="1623024" y="792810"/>
                </a:cubicBezTo>
                <a:cubicBezTo>
                  <a:pt x="1689575" y="907319"/>
                  <a:pt x="1741505" y="1029715"/>
                  <a:pt x="1777614" y="1157141"/>
                </a:cubicBezTo>
                <a:cubicBezTo>
                  <a:pt x="1787149" y="1190888"/>
                  <a:pt x="1767537" y="1225969"/>
                  <a:pt x="1733799" y="1235532"/>
                </a:cubicBezTo>
                <a:cubicBezTo>
                  <a:pt x="1728151" y="1237046"/>
                  <a:pt x="1722312" y="1237780"/>
                  <a:pt x="1716464" y="1237722"/>
                </a:cubicBezTo>
                <a:lnTo>
                  <a:pt x="1716464" y="1237913"/>
                </a:lnTo>
                <a:cubicBezTo>
                  <a:pt x="1688070" y="1237913"/>
                  <a:pt x="1663124" y="1219044"/>
                  <a:pt x="1655409" y="1191717"/>
                </a:cubicBezTo>
                <a:cubicBezTo>
                  <a:pt x="1622214" y="1074512"/>
                  <a:pt x="1574437" y="961936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53325" y="762319"/>
                  <a:pt x="1570022" y="760730"/>
                  <a:pt x="1585229" y="764759"/>
                </a:cubicBezTo>
                <a:close/>
                <a:moveTo>
                  <a:pt x="477919" y="21437"/>
                </a:moveTo>
                <a:cubicBezTo>
                  <a:pt x="499341" y="33775"/>
                  <a:pt x="512445" y="58102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89834" y="-4456"/>
                  <a:pt x="322735" y="-3656"/>
                  <a:pt x="454020" y="13474"/>
                </a:cubicBezTo>
                <a:cubicBezTo>
                  <a:pt x="462713" y="14543"/>
                  <a:pt x="470778" y="17324"/>
                  <a:pt x="477919" y="21437"/>
                </a:cubicBezTo>
                <a:close/>
                <a:moveTo>
                  <a:pt x="957797" y="167970"/>
                </a:move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8235" y="164811"/>
                  <a:pt x="926445" y="152188"/>
                  <a:pt x="957797" y="167970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75F47824-961D-465D-84F9-EAE11BC617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07753" y="6033795"/>
            <a:ext cx="1990546" cy="824205"/>
          </a:xfrm>
          <a:custGeom>
            <a:avLst/>
            <a:gdLst>
              <a:gd name="connsiteX0" fmla="*/ 995532 w 1991064"/>
              <a:gd name="connsiteY0" fmla="*/ 0 h 824205"/>
              <a:gd name="connsiteX1" fmla="*/ 1984823 w 1991064"/>
              <a:gd name="connsiteY1" fmla="*/ 784423 h 824205"/>
              <a:gd name="connsiteX2" fmla="*/ 1991064 w 1991064"/>
              <a:gd name="connsiteY2" fmla="*/ 824205 h 824205"/>
              <a:gd name="connsiteX3" fmla="*/ 0 w 1991064"/>
              <a:gd name="connsiteY3" fmla="*/ 824205 h 824205"/>
              <a:gd name="connsiteX4" fmla="*/ 6241 w 1991064"/>
              <a:gd name="connsiteY4" fmla="*/ 784423 h 824205"/>
              <a:gd name="connsiteX5" fmla="*/ 995532 w 1991064"/>
              <a:gd name="connsiteY5" fmla="*/ 0 h 824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91064" h="824205">
                <a:moveTo>
                  <a:pt x="995532" y="0"/>
                </a:moveTo>
                <a:cubicBezTo>
                  <a:pt x="1483521" y="0"/>
                  <a:pt x="1890663" y="336754"/>
                  <a:pt x="1984823" y="784423"/>
                </a:cubicBezTo>
                <a:lnTo>
                  <a:pt x="1991064" y="824205"/>
                </a:lnTo>
                <a:lnTo>
                  <a:pt x="0" y="824205"/>
                </a:lnTo>
                <a:lnTo>
                  <a:pt x="6241" y="784423"/>
                </a:lnTo>
                <a:cubicBezTo>
                  <a:pt x="100402" y="336754"/>
                  <a:pt x="507544" y="0"/>
                  <a:pt x="99553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FEC9DA3E-C1D7-472D-B7C0-F71AE41FBA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48870" y="5519196"/>
            <a:ext cx="1339955" cy="1338805"/>
          </a:xfrm>
          <a:custGeom>
            <a:avLst/>
            <a:gdLst>
              <a:gd name="connsiteX0" fmla="*/ 61913 w 1340305"/>
              <a:gd name="connsiteY0" fmla="*/ 0 h 1338805"/>
              <a:gd name="connsiteX1" fmla="*/ 1340305 w 1340305"/>
              <a:gd name="connsiteY1" fmla="*/ 0 h 1338805"/>
              <a:gd name="connsiteX2" fmla="*/ 1340305 w 1340305"/>
              <a:gd name="connsiteY2" fmla="*/ 123825 h 1338805"/>
              <a:gd name="connsiteX3" fmla="*/ 123825 w 1340305"/>
              <a:gd name="connsiteY3" fmla="*/ 123825 h 1338805"/>
              <a:gd name="connsiteX4" fmla="*/ 123825 w 1340305"/>
              <a:gd name="connsiteY4" fmla="*/ 1338805 h 1338805"/>
              <a:gd name="connsiteX5" fmla="*/ 0 w 1340305"/>
              <a:gd name="connsiteY5" fmla="*/ 1338805 h 1338805"/>
              <a:gd name="connsiteX6" fmla="*/ 0 w 1340305"/>
              <a:gd name="connsiteY6" fmla="*/ 61913 h 1338805"/>
              <a:gd name="connsiteX7" fmla="*/ 61913 w 1340305"/>
              <a:gd name="connsiteY7" fmla="*/ 0 h 13388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40305" h="1338805">
                <a:moveTo>
                  <a:pt x="61913" y="0"/>
                </a:moveTo>
                <a:lnTo>
                  <a:pt x="1340305" y="0"/>
                </a:lnTo>
                <a:lnTo>
                  <a:pt x="1340305" y="123825"/>
                </a:lnTo>
                <a:lnTo>
                  <a:pt x="123825" y="123825"/>
                </a:lnTo>
                <a:lnTo>
                  <a:pt x="123825" y="1338805"/>
                </a:lnTo>
                <a:lnTo>
                  <a:pt x="0" y="1338805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pic>
        <p:nvPicPr>
          <p:cNvPr id="4" name="Picture 3" descr="log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43032" y="182880"/>
            <a:ext cx="1497874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8632" y="182880"/>
            <a:ext cx="1342103" cy="640080"/>
          </a:xfrm>
          <a:prstGeom prst="rect">
            <a:avLst/>
          </a:prstGeom>
        </p:spPr>
      </p:pic>
      <p:pic>
        <p:nvPicPr>
          <p:cNvPr id="4" name="Picture 3" descr="log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43032" y="182880"/>
            <a:ext cx="1497874" cy="640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82296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005BAB"/>
                </a:solidFill>
              </a:rPr>
              <a:t>Combinatoire — Règles de base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554480"/>
            <a:ext cx="521208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/>
            </a:pPr>
            <a:r>
              <a:t>Permutations : n!</a:t>
            </a:r>
          </a:p>
          <a:p>
            <a:pPr>
              <a:defRPr sz="2100"/>
            </a:pPr>
            <a:r>
              <a:t>Arrangements (k‑uplets ordonnés) : A(n,k)=n!/(n−k)!</a:t>
            </a:r>
          </a:p>
          <a:p>
            <a:pPr>
              <a:defRPr sz="2100"/>
            </a:pPr>
            <a:r>
              <a:t>Combinaisons (non ordonnées) : C(n,k)=n!/(k!(n−k)!)</a:t>
            </a:r>
          </a:p>
          <a:p>
            <a:pPr>
              <a:defRPr sz="2100"/>
            </a:pPr>
            <a:r>
              <a:t>Avec/sans remise, avec/sans ordre → 4 schémas classiques</a:t>
            </a:r>
          </a:p>
        </p:txBody>
      </p:sp>
      <p:graphicFrame>
        <p:nvGraphicFramePr>
          <p:cNvPr id="9" name="TextBox 5">
            <a:extLst>
              <a:ext uri="{FF2B5EF4-FFF2-40B4-BE49-F238E27FC236}">
                <a16:creationId xmlns:a16="http://schemas.microsoft.com/office/drawing/2014/main" id="{B7B99DE8-00CC-07F5-6614-D90C39B93100}"/>
              </a:ext>
            </a:extLst>
          </p:cNvPr>
          <p:cNvGraphicFramePr/>
          <p:nvPr/>
        </p:nvGraphicFramePr>
        <p:xfrm>
          <a:off x="822960" y="1554480"/>
          <a:ext cx="5212080" cy="44805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CD81A2A-6ED4-4EF4-A14C-912D31E148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8882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7981" y="365125"/>
            <a:ext cx="5391957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7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Exemples de dénombrement (rapide)</a:t>
            </a: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1661932C-CA15-4E17-B115-FAE7CBEE47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196001" y="1"/>
            <a:ext cx="1154841" cy="625027"/>
          </a:xfrm>
          <a:custGeom>
            <a:avLst/>
            <a:gdLst>
              <a:gd name="connsiteX0" fmla="*/ 4784 w 1155142"/>
              <a:gd name="connsiteY0" fmla="*/ 0 h 625027"/>
              <a:gd name="connsiteX1" fmla="*/ 1150358 w 1155142"/>
              <a:gd name="connsiteY1" fmla="*/ 0 h 625027"/>
              <a:gd name="connsiteX2" fmla="*/ 1155142 w 1155142"/>
              <a:gd name="connsiteY2" fmla="*/ 47456 h 625027"/>
              <a:gd name="connsiteX3" fmla="*/ 577571 w 1155142"/>
              <a:gd name="connsiteY3" fmla="*/ 625027 h 625027"/>
              <a:gd name="connsiteX4" fmla="*/ 0 w 1155142"/>
              <a:gd name="connsiteY4" fmla="*/ 47456 h 6250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625027">
                <a:moveTo>
                  <a:pt x="4784" y="0"/>
                </a:moveTo>
                <a:lnTo>
                  <a:pt x="1150358" y="0"/>
                </a:lnTo>
                <a:lnTo>
                  <a:pt x="1155142" y="47456"/>
                </a:lnTo>
                <a:cubicBezTo>
                  <a:pt x="1155142" y="366440"/>
                  <a:pt x="896555" y="625027"/>
                  <a:pt x="577571" y="625027"/>
                </a:cubicBezTo>
                <a:cubicBezTo>
                  <a:pt x="258587" y="625027"/>
                  <a:pt x="0" y="366440"/>
                  <a:pt x="0" y="47456"/>
                </a:cubicBezTo>
                <a:close/>
              </a:path>
            </a:pathLst>
          </a:custGeom>
          <a:solidFill>
            <a:schemeClr val="accent5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837981" y="1825625"/>
            <a:ext cx="5391957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200"/>
            </a:pPr>
            <a:r>
              <a:rPr lang="en-US" sz="2200"/>
              <a:t>N°1 : Nombre de mots de 5 lettres sur un alphabet de 26 (avec répétition).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200"/>
            </a:pPr>
            <a:r>
              <a:rPr lang="en-US" sz="2200"/>
              <a:t>N°2 : Tirage de 5 cartes sans ordre (combinaisons).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200"/>
            </a:pPr>
            <a:r>
              <a:rPr lang="en-US" sz="2200"/>
              <a:t>N°3 : Distribution de k objets distincts dans n boîtes (formule du produit).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200"/>
            </a:pPr>
            <a:r>
              <a:rPr lang="en-US" sz="2200"/>
              <a:t>N°4 : Anagrammes avec lettres répétées.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8590ADD5-9383-4D3D-9047-3DA2593CCB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06412" y="3423959"/>
            <a:ext cx="540681" cy="540822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5130" y="2205611"/>
            <a:ext cx="3780066" cy="1802800"/>
          </a:xfrm>
          <a:custGeom>
            <a:avLst/>
            <a:gdLst/>
            <a:ahLst/>
            <a:cxnLst/>
            <a:rect l="l" t="t" r="r" b="b"/>
            <a:pathLst>
              <a:path w="4114800" h="5712488">
                <a:moveTo>
                  <a:pt x="133155" y="0"/>
                </a:moveTo>
                <a:lnTo>
                  <a:pt x="3981645" y="0"/>
                </a:lnTo>
                <a:cubicBezTo>
                  <a:pt x="4055184" y="0"/>
                  <a:pt x="4114800" y="59616"/>
                  <a:pt x="4114800" y="133155"/>
                </a:cubicBezTo>
                <a:lnTo>
                  <a:pt x="4114800" y="5579333"/>
                </a:lnTo>
                <a:cubicBezTo>
                  <a:pt x="4114800" y="5652872"/>
                  <a:pt x="4055184" y="5712488"/>
                  <a:pt x="3981645" y="5712488"/>
                </a:cubicBezTo>
                <a:lnTo>
                  <a:pt x="133155" y="5712488"/>
                </a:lnTo>
                <a:cubicBezTo>
                  <a:pt x="59616" y="5712488"/>
                  <a:pt x="0" y="5652872"/>
                  <a:pt x="0" y="5579333"/>
                </a:cubicBezTo>
                <a:lnTo>
                  <a:pt x="0" y="133155"/>
                </a:lnTo>
                <a:cubicBezTo>
                  <a:pt x="0" y="59616"/>
                  <a:pt x="59616" y="0"/>
                  <a:pt x="133155" y="0"/>
                </a:cubicBezTo>
                <a:close/>
              </a:path>
            </a:pathLst>
          </a:custGeom>
        </p:spPr>
      </p:pic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DABE3E45-88CF-45D8-8D40-C773324D93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47844" y="1"/>
            <a:ext cx="2066410" cy="1621879"/>
          </a:xfrm>
          <a:custGeom>
            <a:avLst/>
            <a:gdLst>
              <a:gd name="connsiteX0" fmla="*/ 0 w 2066948"/>
              <a:gd name="connsiteY0" fmla="*/ 0 h 1621879"/>
              <a:gd name="connsiteX1" fmla="*/ 123825 w 2066948"/>
              <a:gd name="connsiteY1" fmla="*/ 0 h 1621879"/>
              <a:gd name="connsiteX2" fmla="*/ 123825 w 2066948"/>
              <a:gd name="connsiteY2" fmla="*/ 1452620 h 1621879"/>
              <a:gd name="connsiteX3" fmla="*/ 1881378 w 2066948"/>
              <a:gd name="connsiteY3" fmla="*/ 436017 h 1621879"/>
              <a:gd name="connsiteX4" fmla="*/ 1127572 w 2066948"/>
              <a:gd name="connsiteY4" fmla="*/ 0 h 1621879"/>
              <a:gd name="connsiteX5" fmla="*/ 1374887 w 2066948"/>
              <a:gd name="connsiteY5" fmla="*/ 0 h 1621879"/>
              <a:gd name="connsiteX6" fmla="*/ 2035969 w 2066948"/>
              <a:gd name="connsiteY6" fmla="*/ 382391 h 1621879"/>
              <a:gd name="connsiteX7" fmla="*/ 2058648 w 2066948"/>
              <a:gd name="connsiteY7" fmla="*/ 466963 h 1621879"/>
              <a:gd name="connsiteX8" fmla="*/ 2035969 w 2066948"/>
              <a:gd name="connsiteY8" fmla="*/ 489642 h 1621879"/>
              <a:gd name="connsiteX9" fmla="*/ 92869 w 2066948"/>
              <a:gd name="connsiteY9" fmla="*/ 1613592 h 1621879"/>
              <a:gd name="connsiteX10" fmla="*/ 61913 w 2066948"/>
              <a:gd name="connsiteY10" fmla="*/ 1621879 h 1621879"/>
              <a:gd name="connsiteX11" fmla="*/ 0 w 2066948"/>
              <a:gd name="connsiteY11" fmla="*/ 1559967 h 16218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066948" h="1621879">
                <a:moveTo>
                  <a:pt x="0" y="0"/>
                </a:moveTo>
                <a:lnTo>
                  <a:pt x="123825" y="0"/>
                </a:lnTo>
                <a:lnTo>
                  <a:pt x="123825" y="1452620"/>
                </a:lnTo>
                <a:lnTo>
                  <a:pt x="1881378" y="436017"/>
                </a:lnTo>
                <a:lnTo>
                  <a:pt x="1127572" y="0"/>
                </a:lnTo>
                <a:lnTo>
                  <a:pt x="1374887" y="0"/>
                </a:lnTo>
                <a:lnTo>
                  <a:pt x="2035969" y="382391"/>
                </a:lnTo>
                <a:cubicBezTo>
                  <a:pt x="2065582" y="399479"/>
                  <a:pt x="2075745" y="437340"/>
                  <a:pt x="2058648" y="466963"/>
                </a:cubicBezTo>
                <a:cubicBezTo>
                  <a:pt x="2053219" y="476384"/>
                  <a:pt x="2045389" y="484204"/>
                  <a:pt x="2035969" y="489642"/>
                </a:cubicBezTo>
                <a:lnTo>
                  <a:pt x="92869" y="1613592"/>
                </a:lnTo>
                <a:cubicBezTo>
                  <a:pt x="83458" y="1619031"/>
                  <a:pt x="72780" y="1621889"/>
                  <a:pt x="61913" y="1621879"/>
                </a:cubicBezTo>
                <a:cubicBezTo>
                  <a:pt x="27719" y="1621879"/>
                  <a:pt x="0" y="1594161"/>
                  <a:pt x="0" y="1559967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9CD1692-827B-4C8D-B4A1-134FD04CF4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135583" y="1027906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B91ECDA9-56DC-4270-8F33-01C5637B8C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463438">
            <a:off x="7454638" y="5166682"/>
            <a:ext cx="1835247" cy="2024785"/>
          </a:xfrm>
          <a:custGeom>
            <a:avLst/>
            <a:gdLst>
              <a:gd name="connsiteX0" fmla="*/ 1801138 w 1835725"/>
              <a:gd name="connsiteY0" fmla="*/ 1622662 h 2024785"/>
              <a:gd name="connsiteX1" fmla="*/ 1835717 w 1835725"/>
              <a:gd name="connsiteY1" fmla="*/ 1680254 h 2024785"/>
              <a:gd name="connsiteX2" fmla="*/ 1812568 w 1835725"/>
              <a:gd name="connsiteY2" fmla="*/ 1877193 h 2024785"/>
              <a:gd name="connsiteX3" fmla="*/ 1776210 w 1835725"/>
              <a:gd name="connsiteY3" fmla="*/ 2024785 h 2024785"/>
              <a:gd name="connsiteX4" fmla="*/ 1655772 w 1835725"/>
              <a:gd name="connsiteY4" fmla="*/ 1983449 h 2024785"/>
              <a:gd name="connsiteX5" fmla="*/ 1687591 w 1835725"/>
              <a:gd name="connsiteY5" fmla="*/ 1854495 h 2024785"/>
              <a:gd name="connsiteX6" fmla="*/ 1708939 w 1835725"/>
              <a:gd name="connsiteY6" fmla="*/ 1673301 h 2024785"/>
              <a:gd name="connsiteX7" fmla="*/ 1778129 w 1835725"/>
              <a:gd name="connsiteY7" fmla="*/ 1615979 h 2024785"/>
              <a:gd name="connsiteX8" fmla="*/ 1801138 w 1835725"/>
              <a:gd name="connsiteY8" fmla="*/ 1622662 h 2024785"/>
              <a:gd name="connsiteX9" fmla="*/ 1585229 w 1835725"/>
              <a:gd name="connsiteY9" fmla="*/ 764759 h 2024785"/>
              <a:gd name="connsiteX10" fmla="*/ 1623024 w 1835725"/>
              <a:gd name="connsiteY10" fmla="*/ 792810 h 2024785"/>
              <a:gd name="connsiteX11" fmla="*/ 1777614 w 1835725"/>
              <a:gd name="connsiteY11" fmla="*/ 1157141 h 2024785"/>
              <a:gd name="connsiteX12" fmla="*/ 1733799 w 1835725"/>
              <a:gd name="connsiteY12" fmla="*/ 1235532 h 2024785"/>
              <a:gd name="connsiteX13" fmla="*/ 1716464 w 1835725"/>
              <a:gd name="connsiteY13" fmla="*/ 1237722 h 2024785"/>
              <a:gd name="connsiteX14" fmla="*/ 1716464 w 1835725"/>
              <a:gd name="connsiteY14" fmla="*/ 1237913 h 2024785"/>
              <a:gd name="connsiteX15" fmla="*/ 1655409 w 1835725"/>
              <a:gd name="connsiteY15" fmla="*/ 1191717 h 2024785"/>
              <a:gd name="connsiteX16" fmla="*/ 1513200 w 1835725"/>
              <a:gd name="connsiteY16" fmla="*/ 856627 h 2024785"/>
              <a:gd name="connsiteX17" fmla="*/ 1538499 w 1835725"/>
              <a:gd name="connsiteY17" fmla="*/ 770415 h 2024785"/>
              <a:gd name="connsiteX18" fmla="*/ 1585229 w 1835725"/>
              <a:gd name="connsiteY18" fmla="*/ 764759 h 2024785"/>
              <a:gd name="connsiteX19" fmla="*/ 477919 w 1835725"/>
              <a:gd name="connsiteY19" fmla="*/ 21437 h 2024785"/>
              <a:gd name="connsiteX20" fmla="*/ 509236 w 1835725"/>
              <a:gd name="connsiteY20" fmla="*/ 84182 h 2024785"/>
              <a:gd name="connsiteX21" fmla="*/ 445829 w 1835725"/>
              <a:gd name="connsiteY21" fmla="*/ 139871 h 2024785"/>
              <a:gd name="connsiteX22" fmla="*/ 437447 w 1835725"/>
              <a:gd name="connsiteY22" fmla="*/ 139395 h 2024785"/>
              <a:gd name="connsiteX23" fmla="*/ 73211 w 1835725"/>
              <a:gd name="connsiteY23" fmla="*/ 137204 h 2024785"/>
              <a:gd name="connsiteX24" fmla="*/ 749 w 1835725"/>
              <a:gd name="connsiteY24" fmla="*/ 84082 h 2024785"/>
              <a:gd name="connsiteX25" fmla="*/ 53871 w 1835725"/>
              <a:gd name="connsiteY25" fmla="*/ 11621 h 2024785"/>
              <a:gd name="connsiteX26" fmla="*/ 58352 w 1835725"/>
              <a:gd name="connsiteY26" fmla="*/ 11093 h 2024785"/>
              <a:gd name="connsiteX27" fmla="*/ 454020 w 1835725"/>
              <a:gd name="connsiteY27" fmla="*/ 13474 h 2024785"/>
              <a:gd name="connsiteX28" fmla="*/ 477919 w 1835725"/>
              <a:gd name="connsiteY28" fmla="*/ 21437 h 2024785"/>
              <a:gd name="connsiteX29" fmla="*/ 957797 w 1835725"/>
              <a:gd name="connsiteY29" fmla="*/ 167970 h 2024785"/>
              <a:gd name="connsiteX30" fmla="*/ 1286982 w 1835725"/>
              <a:gd name="connsiteY30" fmla="*/ 387616 h 2024785"/>
              <a:gd name="connsiteX31" fmla="*/ 1293725 w 1835725"/>
              <a:gd name="connsiteY31" fmla="*/ 477075 h 2024785"/>
              <a:gd name="connsiteX32" fmla="*/ 1245453 w 1835725"/>
              <a:gd name="connsiteY32" fmla="*/ 499154 h 2024785"/>
              <a:gd name="connsiteX33" fmla="*/ 1245167 w 1835725"/>
              <a:gd name="connsiteY33" fmla="*/ 499154 h 2024785"/>
              <a:gd name="connsiteX34" fmla="*/ 1203638 w 1835725"/>
              <a:gd name="connsiteY34" fmla="*/ 484104 h 2024785"/>
              <a:gd name="connsiteX35" fmla="*/ 900647 w 1835725"/>
              <a:gd name="connsiteY35" fmla="*/ 281508 h 2024785"/>
              <a:gd name="connsiteX36" fmla="*/ 872454 w 1835725"/>
              <a:gd name="connsiteY36" fmla="*/ 196164 h 2024785"/>
              <a:gd name="connsiteX37" fmla="*/ 957797 w 1835725"/>
              <a:gd name="connsiteY37" fmla="*/ 167970 h 2024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835725" h="2024785">
                <a:moveTo>
                  <a:pt x="1801138" y="1622662"/>
                </a:moveTo>
                <a:cubicBezTo>
                  <a:pt x="1822105" y="1633400"/>
                  <a:pt x="1836117" y="1655372"/>
                  <a:pt x="1835717" y="1680254"/>
                </a:cubicBezTo>
                <a:cubicBezTo>
                  <a:pt x="1832093" y="1746382"/>
                  <a:pt x="1824354" y="1812154"/>
                  <a:pt x="1812568" y="1877193"/>
                </a:cubicBezTo>
                <a:lnTo>
                  <a:pt x="1776210" y="2024785"/>
                </a:lnTo>
                <a:lnTo>
                  <a:pt x="1655772" y="1983449"/>
                </a:lnTo>
                <a:lnTo>
                  <a:pt x="1687591" y="1854495"/>
                </a:lnTo>
                <a:cubicBezTo>
                  <a:pt x="1698455" y="1794657"/>
                  <a:pt x="1705590" y="1734142"/>
                  <a:pt x="1708939" y="1673301"/>
                </a:cubicBezTo>
                <a:cubicBezTo>
                  <a:pt x="1712216" y="1638363"/>
                  <a:pt x="1743190" y="1612703"/>
                  <a:pt x="1778129" y="1615979"/>
                </a:cubicBezTo>
                <a:cubicBezTo>
                  <a:pt x="1786387" y="1616753"/>
                  <a:pt x="1794149" y="1619084"/>
                  <a:pt x="1801138" y="1622662"/>
                </a:cubicBezTo>
                <a:close/>
                <a:moveTo>
                  <a:pt x="1585229" y="764759"/>
                </a:moveTo>
                <a:cubicBezTo>
                  <a:pt x="1600438" y="768789"/>
                  <a:pt x="1614156" y="778436"/>
                  <a:pt x="1623024" y="792810"/>
                </a:cubicBezTo>
                <a:cubicBezTo>
                  <a:pt x="1689575" y="907319"/>
                  <a:pt x="1741505" y="1029715"/>
                  <a:pt x="1777614" y="1157141"/>
                </a:cubicBezTo>
                <a:cubicBezTo>
                  <a:pt x="1787149" y="1190888"/>
                  <a:pt x="1767537" y="1225969"/>
                  <a:pt x="1733799" y="1235532"/>
                </a:cubicBezTo>
                <a:cubicBezTo>
                  <a:pt x="1728151" y="1237046"/>
                  <a:pt x="1722312" y="1237780"/>
                  <a:pt x="1716464" y="1237722"/>
                </a:cubicBezTo>
                <a:lnTo>
                  <a:pt x="1716464" y="1237913"/>
                </a:lnTo>
                <a:cubicBezTo>
                  <a:pt x="1688070" y="1237913"/>
                  <a:pt x="1663124" y="1219044"/>
                  <a:pt x="1655409" y="1191717"/>
                </a:cubicBezTo>
                <a:cubicBezTo>
                  <a:pt x="1622214" y="1074512"/>
                  <a:pt x="1574437" y="961936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53325" y="762319"/>
                  <a:pt x="1570022" y="760730"/>
                  <a:pt x="1585229" y="764759"/>
                </a:cubicBezTo>
                <a:close/>
                <a:moveTo>
                  <a:pt x="477919" y="21437"/>
                </a:moveTo>
                <a:cubicBezTo>
                  <a:pt x="499341" y="33775"/>
                  <a:pt x="512445" y="58102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89834" y="-4456"/>
                  <a:pt x="322735" y="-3656"/>
                  <a:pt x="454020" y="13474"/>
                </a:cubicBezTo>
                <a:cubicBezTo>
                  <a:pt x="462713" y="14543"/>
                  <a:pt x="470778" y="17324"/>
                  <a:pt x="477919" y="21437"/>
                </a:cubicBezTo>
                <a:close/>
                <a:moveTo>
                  <a:pt x="957797" y="167970"/>
                </a:move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8235" y="164811"/>
                  <a:pt x="926445" y="152188"/>
                  <a:pt x="957797" y="167970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75F47824-961D-465D-84F9-EAE11BC617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07753" y="6033795"/>
            <a:ext cx="1990546" cy="824205"/>
          </a:xfrm>
          <a:custGeom>
            <a:avLst/>
            <a:gdLst>
              <a:gd name="connsiteX0" fmla="*/ 995532 w 1991064"/>
              <a:gd name="connsiteY0" fmla="*/ 0 h 824205"/>
              <a:gd name="connsiteX1" fmla="*/ 1984823 w 1991064"/>
              <a:gd name="connsiteY1" fmla="*/ 784423 h 824205"/>
              <a:gd name="connsiteX2" fmla="*/ 1991064 w 1991064"/>
              <a:gd name="connsiteY2" fmla="*/ 824205 h 824205"/>
              <a:gd name="connsiteX3" fmla="*/ 0 w 1991064"/>
              <a:gd name="connsiteY3" fmla="*/ 824205 h 824205"/>
              <a:gd name="connsiteX4" fmla="*/ 6241 w 1991064"/>
              <a:gd name="connsiteY4" fmla="*/ 784423 h 824205"/>
              <a:gd name="connsiteX5" fmla="*/ 995532 w 1991064"/>
              <a:gd name="connsiteY5" fmla="*/ 0 h 824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91064" h="824205">
                <a:moveTo>
                  <a:pt x="995532" y="0"/>
                </a:moveTo>
                <a:cubicBezTo>
                  <a:pt x="1483521" y="0"/>
                  <a:pt x="1890663" y="336754"/>
                  <a:pt x="1984823" y="784423"/>
                </a:cubicBezTo>
                <a:lnTo>
                  <a:pt x="1991064" y="824205"/>
                </a:lnTo>
                <a:lnTo>
                  <a:pt x="0" y="824205"/>
                </a:lnTo>
                <a:lnTo>
                  <a:pt x="6241" y="784423"/>
                </a:lnTo>
                <a:cubicBezTo>
                  <a:pt x="100402" y="336754"/>
                  <a:pt x="507544" y="0"/>
                  <a:pt x="99553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FEC9DA3E-C1D7-472D-B7C0-F71AE41FBA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48870" y="5519196"/>
            <a:ext cx="1339955" cy="1338805"/>
          </a:xfrm>
          <a:custGeom>
            <a:avLst/>
            <a:gdLst>
              <a:gd name="connsiteX0" fmla="*/ 61913 w 1340305"/>
              <a:gd name="connsiteY0" fmla="*/ 0 h 1338805"/>
              <a:gd name="connsiteX1" fmla="*/ 1340305 w 1340305"/>
              <a:gd name="connsiteY1" fmla="*/ 0 h 1338805"/>
              <a:gd name="connsiteX2" fmla="*/ 1340305 w 1340305"/>
              <a:gd name="connsiteY2" fmla="*/ 123825 h 1338805"/>
              <a:gd name="connsiteX3" fmla="*/ 123825 w 1340305"/>
              <a:gd name="connsiteY3" fmla="*/ 123825 h 1338805"/>
              <a:gd name="connsiteX4" fmla="*/ 123825 w 1340305"/>
              <a:gd name="connsiteY4" fmla="*/ 1338805 h 1338805"/>
              <a:gd name="connsiteX5" fmla="*/ 0 w 1340305"/>
              <a:gd name="connsiteY5" fmla="*/ 1338805 h 1338805"/>
              <a:gd name="connsiteX6" fmla="*/ 0 w 1340305"/>
              <a:gd name="connsiteY6" fmla="*/ 61913 h 1338805"/>
              <a:gd name="connsiteX7" fmla="*/ 61913 w 1340305"/>
              <a:gd name="connsiteY7" fmla="*/ 0 h 13388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40305" h="1338805">
                <a:moveTo>
                  <a:pt x="61913" y="0"/>
                </a:moveTo>
                <a:lnTo>
                  <a:pt x="1340305" y="0"/>
                </a:lnTo>
                <a:lnTo>
                  <a:pt x="1340305" y="123825"/>
                </a:lnTo>
                <a:lnTo>
                  <a:pt x="123825" y="123825"/>
                </a:lnTo>
                <a:lnTo>
                  <a:pt x="123825" y="1338805"/>
                </a:lnTo>
                <a:lnTo>
                  <a:pt x="0" y="1338805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pic>
        <p:nvPicPr>
          <p:cNvPr id="4" name="Picture 3" descr="log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43032" y="182880"/>
            <a:ext cx="1497874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CD81A2A-6ED4-4EF4-A14C-912D31E148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8882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7981" y="365125"/>
            <a:ext cx="5391957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Univers</a:t>
            </a:r>
            <a:r>
              <a:rPr lang="en-US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et </a:t>
            </a:r>
            <a:r>
              <a:rPr lang="en-US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événements</a:t>
            </a:r>
            <a:endParaRPr lang="en-US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1661932C-CA15-4E17-B115-FAE7CBEE47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196001" y="1"/>
            <a:ext cx="1154841" cy="625027"/>
          </a:xfrm>
          <a:custGeom>
            <a:avLst/>
            <a:gdLst>
              <a:gd name="connsiteX0" fmla="*/ 4784 w 1155142"/>
              <a:gd name="connsiteY0" fmla="*/ 0 h 625027"/>
              <a:gd name="connsiteX1" fmla="*/ 1150358 w 1155142"/>
              <a:gd name="connsiteY1" fmla="*/ 0 h 625027"/>
              <a:gd name="connsiteX2" fmla="*/ 1155142 w 1155142"/>
              <a:gd name="connsiteY2" fmla="*/ 47456 h 625027"/>
              <a:gd name="connsiteX3" fmla="*/ 577571 w 1155142"/>
              <a:gd name="connsiteY3" fmla="*/ 625027 h 625027"/>
              <a:gd name="connsiteX4" fmla="*/ 0 w 1155142"/>
              <a:gd name="connsiteY4" fmla="*/ 47456 h 6250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625027">
                <a:moveTo>
                  <a:pt x="4784" y="0"/>
                </a:moveTo>
                <a:lnTo>
                  <a:pt x="1150358" y="0"/>
                </a:lnTo>
                <a:lnTo>
                  <a:pt x="1155142" y="47456"/>
                </a:lnTo>
                <a:cubicBezTo>
                  <a:pt x="1155142" y="366440"/>
                  <a:pt x="896555" y="625027"/>
                  <a:pt x="577571" y="625027"/>
                </a:cubicBezTo>
                <a:cubicBezTo>
                  <a:pt x="258587" y="625027"/>
                  <a:pt x="0" y="366440"/>
                  <a:pt x="0" y="47456"/>
                </a:cubicBezTo>
                <a:close/>
              </a:path>
            </a:pathLst>
          </a:custGeom>
          <a:solidFill>
            <a:schemeClr val="accent5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837981" y="1825625"/>
            <a:ext cx="5391957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200"/>
            </a:pPr>
            <a:r>
              <a:rPr lang="en-US" dirty="0" err="1"/>
              <a:t>Univers</a:t>
            </a:r>
            <a:r>
              <a:rPr lang="en-US" dirty="0"/>
              <a:t> Ω : ensemble de </a:t>
            </a:r>
            <a:r>
              <a:rPr lang="en-US" dirty="0" err="1"/>
              <a:t>toutes</a:t>
            </a:r>
            <a:r>
              <a:rPr lang="en-US" dirty="0"/>
              <a:t> les issues possibles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200"/>
            </a:pPr>
            <a:r>
              <a:rPr lang="en-US" dirty="0" err="1"/>
              <a:t>Événement</a:t>
            </a:r>
            <a:r>
              <a:rPr lang="en-US" dirty="0"/>
              <a:t> : sous‑ensemble E ⊆ Ω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200"/>
            </a:pPr>
            <a:r>
              <a:rPr lang="en-US" dirty="0" err="1"/>
              <a:t>Complément</a:t>
            </a:r>
            <a:r>
              <a:rPr lang="en-US" dirty="0"/>
              <a:t>, union, intersection</a:t>
            </a:r>
          </a:p>
          <a:p>
            <a:pPr lvl="1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dirty="0" err="1"/>
              <a:t>E^c</a:t>
            </a:r>
            <a:r>
              <a:rPr lang="en-US" dirty="0"/>
              <a:t>, E∪F, E∩F ; </a:t>
            </a:r>
            <a:r>
              <a:rPr lang="en-US" dirty="0" err="1"/>
              <a:t>événements</a:t>
            </a:r>
            <a:r>
              <a:rPr lang="en-US" dirty="0"/>
              <a:t> incompatibles (disjoints)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8590ADD5-9383-4D3D-9047-3DA2593CCB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06412" y="3423959"/>
            <a:ext cx="540681" cy="540822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5130" y="2205611"/>
            <a:ext cx="3780066" cy="1802800"/>
          </a:xfrm>
          <a:custGeom>
            <a:avLst/>
            <a:gdLst/>
            <a:ahLst/>
            <a:cxnLst/>
            <a:rect l="l" t="t" r="r" b="b"/>
            <a:pathLst>
              <a:path w="4114800" h="5712488">
                <a:moveTo>
                  <a:pt x="133155" y="0"/>
                </a:moveTo>
                <a:lnTo>
                  <a:pt x="3981645" y="0"/>
                </a:lnTo>
                <a:cubicBezTo>
                  <a:pt x="4055184" y="0"/>
                  <a:pt x="4114800" y="59616"/>
                  <a:pt x="4114800" y="133155"/>
                </a:cubicBezTo>
                <a:lnTo>
                  <a:pt x="4114800" y="5579333"/>
                </a:lnTo>
                <a:cubicBezTo>
                  <a:pt x="4114800" y="5652872"/>
                  <a:pt x="4055184" y="5712488"/>
                  <a:pt x="3981645" y="5712488"/>
                </a:cubicBezTo>
                <a:lnTo>
                  <a:pt x="133155" y="5712488"/>
                </a:lnTo>
                <a:cubicBezTo>
                  <a:pt x="59616" y="5712488"/>
                  <a:pt x="0" y="5652872"/>
                  <a:pt x="0" y="5579333"/>
                </a:cubicBezTo>
                <a:lnTo>
                  <a:pt x="0" y="133155"/>
                </a:lnTo>
                <a:cubicBezTo>
                  <a:pt x="0" y="59616"/>
                  <a:pt x="59616" y="0"/>
                  <a:pt x="133155" y="0"/>
                </a:cubicBezTo>
                <a:close/>
              </a:path>
            </a:pathLst>
          </a:custGeom>
        </p:spPr>
      </p:pic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DABE3E45-88CF-45D8-8D40-C773324D93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47844" y="1"/>
            <a:ext cx="2066410" cy="1621879"/>
          </a:xfrm>
          <a:custGeom>
            <a:avLst/>
            <a:gdLst>
              <a:gd name="connsiteX0" fmla="*/ 0 w 2066948"/>
              <a:gd name="connsiteY0" fmla="*/ 0 h 1621879"/>
              <a:gd name="connsiteX1" fmla="*/ 123825 w 2066948"/>
              <a:gd name="connsiteY1" fmla="*/ 0 h 1621879"/>
              <a:gd name="connsiteX2" fmla="*/ 123825 w 2066948"/>
              <a:gd name="connsiteY2" fmla="*/ 1452620 h 1621879"/>
              <a:gd name="connsiteX3" fmla="*/ 1881378 w 2066948"/>
              <a:gd name="connsiteY3" fmla="*/ 436017 h 1621879"/>
              <a:gd name="connsiteX4" fmla="*/ 1127572 w 2066948"/>
              <a:gd name="connsiteY4" fmla="*/ 0 h 1621879"/>
              <a:gd name="connsiteX5" fmla="*/ 1374887 w 2066948"/>
              <a:gd name="connsiteY5" fmla="*/ 0 h 1621879"/>
              <a:gd name="connsiteX6" fmla="*/ 2035969 w 2066948"/>
              <a:gd name="connsiteY6" fmla="*/ 382391 h 1621879"/>
              <a:gd name="connsiteX7" fmla="*/ 2058648 w 2066948"/>
              <a:gd name="connsiteY7" fmla="*/ 466963 h 1621879"/>
              <a:gd name="connsiteX8" fmla="*/ 2035969 w 2066948"/>
              <a:gd name="connsiteY8" fmla="*/ 489642 h 1621879"/>
              <a:gd name="connsiteX9" fmla="*/ 92869 w 2066948"/>
              <a:gd name="connsiteY9" fmla="*/ 1613592 h 1621879"/>
              <a:gd name="connsiteX10" fmla="*/ 61913 w 2066948"/>
              <a:gd name="connsiteY10" fmla="*/ 1621879 h 1621879"/>
              <a:gd name="connsiteX11" fmla="*/ 0 w 2066948"/>
              <a:gd name="connsiteY11" fmla="*/ 1559967 h 16218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066948" h="1621879">
                <a:moveTo>
                  <a:pt x="0" y="0"/>
                </a:moveTo>
                <a:lnTo>
                  <a:pt x="123825" y="0"/>
                </a:lnTo>
                <a:lnTo>
                  <a:pt x="123825" y="1452620"/>
                </a:lnTo>
                <a:lnTo>
                  <a:pt x="1881378" y="436017"/>
                </a:lnTo>
                <a:lnTo>
                  <a:pt x="1127572" y="0"/>
                </a:lnTo>
                <a:lnTo>
                  <a:pt x="1374887" y="0"/>
                </a:lnTo>
                <a:lnTo>
                  <a:pt x="2035969" y="382391"/>
                </a:lnTo>
                <a:cubicBezTo>
                  <a:pt x="2065582" y="399479"/>
                  <a:pt x="2075745" y="437340"/>
                  <a:pt x="2058648" y="466963"/>
                </a:cubicBezTo>
                <a:cubicBezTo>
                  <a:pt x="2053219" y="476384"/>
                  <a:pt x="2045389" y="484204"/>
                  <a:pt x="2035969" y="489642"/>
                </a:cubicBezTo>
                <a:lnTo>
                  <a:pt x="92869" y="1613592"/>
                </a:lnTo>
                <a:cubicBezTo>
                  <a:pt x="83458" y="1619031"/>
                  <a:pt x="72780" y="1621889"/>
                  <a:pt x="61913" y="1621879"/>
                </a:cubicBezTo>
                <a:cubicBezTo>
                  <a:pt x="27719" y="1621879"/>
                  <a:pt x="0" y="1594161"/>
                  <a:pt x="0" y="1559967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9CD1692-827B-4C8D-B4A1-134FD04CF4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135583" y="1027906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B91ECDA9-56DC-4270-8F33-01C5637B8C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463438">
            <a:off x="7454638" y="5166682"/>
            <a:ext cx="1835247" cy="2024785"/>
          </a:xfrm>
          <a:custGeom>
            <a:avLst/>
            <a:gdLst>
              <a:gd name="connsiteX0" fmla="*/ 1801138 w 1835725"/>
              <a:gd name="connsiteY0" fmla="*/ 1622662 h 2024785"/>
              <a:gd name="connsiteX1" fmla="*/ 1835717 w 1835725"/>
              <a:gd name="connsiteY1" fmla="*/ 1680254 h 2024785"/>
              <a:gd name="connsiteX2" fmla="*/ 1812568 w 1835725"/>
              <a:gd name="connsiteY2" fmla="*/ 1877193 h 2024785"/>
              <a:gd name="connsiteX3" fmla="*/ 1776210 w 1835725"/>
              <a:gd name="connsiteY3" fmla="*/ 2024785 h 2024785"/>
              <a:gd name="connsiteX4" fmla="*/ 1655772 w 1835725"/>
              <a:gd name="connsiteY4" fmla="*/ 1983449 h 2024785"/>
              <a:gd name="connsiteX5" fmla="*/ 1687591 w 1835725"/>
              <a:gd name="connsiteY5" fmla="*/ 1854495 h 2024785"/>
              <a:gd name="connsiteX6" fmla="*/ 1708939 w 1835725"/>
              <a:gd name="connsiteY6" fmla="*/ 1673301 h 2024785"/>
              <a:gd name="connsiteX7" fmla="*/ 1778129 w 1835725"/>
              <a:gd name="connsiteY7" fmla="*/ 1615979 h 2024785"/>
              <a:gd name="connsiteX8" fmla="*/ 1801138 w 1835725"/>
              <a:gd name="connsiteY8" fmla="*/ 1622662 h 2024785"/>
              <a:gd name="connsiteX9" fmla="*/ 1585229 w 1835725"/>
              <a:gd name="connsiteY9" fmla="*/ 764759 h 2024785"/>
              <a:gd name="connsiteX10" fmla="*/ 1623024 w 1835725"/>
              <a:gd name="connsiteY10" fmla="*/ 792810 h 2024785"/>
              <a:gd name="connsiteX11" fmla="*/ 1777614 w 1835725"/>
              <a:gd name="connsiteY11" fmla="*/ 1157141 h 2024785"/>
              <a:gd name="connsiteX12" fmla="*/ 1733799 w 1835725"/>
              <a:gd name="connsiteY12" fmla="*/ 1235532 h 2024785"/>
              <a:gd name="connsiteX13" fmla="*/ 1716464 w 1835725"/>
              <a:gd name="connsiteY13" fmla="*/ 1237722 h 2024785"/>
              <a:gd name="connsiteX14" fmla="*/ 1716464 w 1835725"/>
              <a:gd name="connsiteY14" fmla="*/ 1237913 h 2024785"/>
              <a:gd name="connsiteX15" fmla="*/ 1655409 w 1835725"/>
              <a:gd name="connsiteY15" fmla="*/ 1191717 h 2024785"/>
              <a:gd name="connsiteX16" fmla="*/ 1513200 w 1835725"/>
              <a:gd name="connsiteY16" fmla="*/ 856627 h 2024785"/>
              <a:gd name="connsiteX17" fmla="*/ 1538499 w 1835725"/>
              <a:gd name="connsiteY17" fmla="*/ 770415 h 2024785"/>
              <a:gd name="connsiteX18" fmla="*/ 1585229 w 1835725"/>
              <a:gd name="connsiteY18" fmla="*/ 764759 h 2024785"/>
              <a:gd name="connsiteX19" fmla="*/ 477919 w 1835725"/>
              <a:gd name="connsiteY19" fmla="*/ 21437 h 2024785"/>
              <a:gd name="connsiteX20" fmla="*/ 509236 w 1835725"/>
              <a:gd name="connsiteY20" fmla="*/ 84182 h 2024785"/>
              <a:gd name="connsiteX21" fmla="*/ 445829 w 1835725"/>
              <a:gd name="connsiteY21" fmla="*/ 139871 h 2024785"/>
              <a:gd name="connsiteX22" fmla="*/ 437447 w 1835725"/>
              <a:gd name="connsiteY22" fmla="*/ 139395 h 2024785"/>
              <a:gd name="connsiteX23" fmla="*/ 73211 w 1835725"/>
              <a:gd name="connsiteY23" fmla="*/ 137204 h 2024785"/>
              <a:gd name="connsiteX24" fmla="*/ 749 w 1835725"/>
              <a:gd name="connsiteY24" fmla="*/ 84082 h 2024785"/>
              <a:gd name="connsiteX25" fmla="*/ 53871 w 1835725"/>
              <a:gd name="connsiteY25" fmla="*/ 11621 h 2024785"/>
              <a:gd name="connsiteX26" fmla="*/ 58352 w 1835725"/>
              <a:gd name="connsiteY26" fmla="*/ 11093 h 2024785"/>
              <a:gd name="connsiteX27" fmla="*/ 454020 w 1835725"/>
              <a:gd name="connsiteY27" fmla="*/ 13474 h 2024785"/>
              <a:gd name="connsiteX28" fmla="*/ 477919 w 1835725"/>
              <a:gd name="connsiteY28" fmla="*/ 21437 h 2024785"/>
              <a:gd name="connsiteX29" fmla="*/ 957797 w 1835725"/>
              <a:gd name="connsiteY29" fmla="*/ 167970 h 2024785"/>
              <a:gd name="connsiteX30" fmla="*/ 1286982 w 1835725"/>
              <a:gd name="connsiteY30" fmla="*/ 387616 h 2024785"/>
              <a:gd name="connsiteX31" fmla="*/ 1293725 w 1835725"/>
              <a:gd name="connsiteY31" fmla="*/ 477075 h 2024785"/>
              <a:gd name="connsiteX32" fmla="*/ 1245453 w 1835725"/>
              <a:gd name="connsiteY32" fmla="*/ 499154 h 2024785"/>
              <a:gd name="connsiteX33" fmla="*/ 1245167 w 1835725"/>
              <a:gd name="connsiteY33" fmla="*/ 499154 h 2024785"/>
              <a:gd name="connsiteX34" fmla="*/ 1203638 w 1835725"/>
              <a:gd name="connsiteY34" fmla="*/ 484104 h 2024785"/>
              <a:gd name="connsiteX35" fmla="*/ 900647 w 1835725"/>
              <a:gd name="connsiteY35" fmla="*/ 281508 h 2024785"/>
              <a:gd name="connsiteX36" fmla="*/ 872454 w 1835725"/>
              <a:gd name="connsiteY36" fmla="*/ 196164 h 2024785"/>
              <a:gd name="connsiteX37" fmla="*/ 957797 w 1835725"/>
              <a:gd name="connsiteY37" fmla="*/ 167970 h 2024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835725" h="2024785">
                <a:moveTo>
                  <a:pt x="1801138" y="1622662"/>
                </a:moveTo>
                <a:cubicBezTo>
                  <a:pt x="1822105" y="1633400"/>
                  <a:pt x="1836117" y="1655372"/>
                  <a:pt x="1835717" y="1680254"/>
                </a:cubicBezTo>
                <a:cubicBezTo>
                  <a:pt x="1832093" y="1746382"/>
                  <a:pt x="1824354" y="1812154"/>
                  <a:pt x="1812568" y="1877193"/>
                </a:cubicBezTo>
                <a:lnTo>
                  <a:pt x="1776210" y="2024785"/>
                </a:lnTo>
                <a:lnTo>
                  <a:pt x="1655772" y="1983449"/>
                </a:lnTo>
                <a:lnTo>
                  <a:pt x="1687591" y="1854495"/>
                </a:lnTo>
                <a:cubicBezTo>
                  <a:pt x="1698455" y="1794657"/>
                  <a:pt x="1705590" y="1734142"/>
                  <a:pt x="1708939" y="1673301"/>
                </a:cubicBezTo>
                <a:cubicBezTo>
                  <a:pt x="1712216" y="1638363"/>
                  <a:pt x="1743190" y="1612703"/>
                  <a:pt x="1778129" y="1615979"/>
                </a:cubicBezTo>
                <a:cubicBezTo>
                  <a:pt x="1786387" y="1616753"/>
                  <a:pt x="1794149" y="1619084"/>
                  <a:pt x="1801138" y="1622662"/>
                </a:cubicBezTo>
                <a:close/>
                <a:moveTo>
                  <a:pt x="1585229" y="764759"/>
                </a:moveTo>
                <a:cubicBezTo>
                  <a:pt x="1600438" y="768789"/>
                  <a:pt x="1614156" y="778436"/>
                  <a:pt x="1623024" y="792810"/>
                </a:cubicBezTo>
                <a:cubicBezTo>
                  <a:pt x="1689575" y="907319"/>
                  <a:pt x="1741505" y="1029715"/>
                  <a:pt x="1777614" y="1157141"/>
                </a:cubicBezTo>
                <a:cubicBezTo>
                  <a:pt x="1787149" y="1190888"/>
                  <a:pt x="1767537" y="1225969"/>
                  <a:pt x="1733799" y="1235532"/>
                </a:cubicBezTo>
                <a:cubicBezTo>
                  <a:pt x="1728151" y="1237046"/>
                  <a:pt x="1722312" y="1237780"/>
                  <a:pt x="1716464" y="1237722"/>
                </a:cubicBezTo>
                <a:lnTo>
                  <a:pt x="1716464" y="1237913"/>
                </a:lnTo>
                <a:cubicBezTo>
                  <a:pt x="1688070" y="1237913"/>
                  <a:pt x="1663124" y="1219044"/>
                  <a:pt x="1655409" y="1191717"/>
                </a:cubicBezTo>
                <a:cubicBezTo>
                  <a:pt x="1622214" y="1074512"/>
                  <a:pt x="1574437" y="961936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53325" y="762319"/>
                  <a:pt x="1570022" y="760730"/>
                  <a:pt x="1585229" y="764759"/>
                </a:cubicBezTo>
                <a:close/>
                <a:moveTo>
                  <a:pt x="477919" y="21437"/>
                </a:moveTo>
                <a:cubicBezTo>
                  <a:pt x="499341" y="33775"/>
                  <a:pt x="512445" y="58102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89834" y="-4456"/>
                  <a:pt x="322735" y="-3656"/>
                  <a:pt x="454020" y="13474"/>
                </a:cubicBezTo>
                <a:cubicBezTo>
                  <a:pt x="462713" y="14543"/>
                  <a:pt x="470778" y="17324"/>
                  <a:pt x="477919" y="21437"/>
                </a:cubicBezTo>
                <a:close/>
                <a:moveTo>
                  <a:pt x="957797" y="167970"/>
                </a:move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8235" y="164811"/>
                  <a:pt x="926445" y="152188"/>
                  <a:pt x="957797" y="167970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75F47824-961D-465D-84F9-EAE11BC617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07753" y="6033795"/>
            <a:ext cx="1990546" cy="824205"/>
          </a:xfrm>
          <a:custGeom>
            <a:avLst/>
            <a:gdLst>
              <a:gd name="connsiteX0" fmla="*/ 995532 w 1991064"/>
              <a:gd name="connsiteY0" fmla="*/ 0 h 824205"/>
              <a:gd name="connsiteX1" fmla="*/ 1984823 w 1991064"/>
              <a:gd name="connsiteY1" fmla="*/ 784423 h 824205"/>
              <a:gd name="connsiteX2" fmla="*/ 1991064 w 1991064"/>
              <a:gd name="connsiteY2" fmla="*/ 824205 h 824205"/>
              <a:gd name="connsiteX3" fmla="*/ 0 w 1991064"/>
              <a:gd name="connsiteY3" fmla="*/ 824205 h 824205"/>
              <a:gd name="connsiteX4" fmla="*/ 6241 w 1991064"/>
              <a:gd name="connsiteY4" fmla="*/ 784423 h 824205"/>
              <a:gd name="connsiteX5" fmla="*/ 995532 w 1991064"/>
              <a:gd name="connsiteY5" fmla="*/ 0 h 824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91064" h="824205">
                <a:moveTo>
                  <a:pt x="995532" y="0"/>
                </a:moveTo>
                <a:cubicBezTo>
                  <a:pt x="1483521" y="0"/>
                  <a:pt x="1890663" y="336754"/>
                  <a:pt x="1984823" y="784423"/>
                </a:cubicBezTo>
                <a:lnTo>
                  <a:pt x="1991064" y="824205"/>
                </a:lnTo>
                <a:lnTo>
                  <a:pt x="0" y="824205"/>
                </a:lnTo>
                <a:lnTo>
                  <a:pt x="6241" y="784423"/>
                </a:lnTo>
                <a:cubicBezTo>
                  <a:pt x="100402" y="336754"/>
                  <a:pt x="507544" y="0"/>
                  <a:pt x="99553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FEC9DA3E-C1D7-472D-B7C0-F71AE41FBA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48870" y="5519196"/>
            <a:ext cx="1339955" cy="1338805"/>
          </a:xfrm>
          <a:custGeom>
            <a:avLst/>
            <a:gdLst>
              <a:gd name="connsiteX0" fmla="*/ 61913 w 1340305"/>
              <a:gd name="connsiteY0" fmla="*/ 0 h 1338805"/>
              <a:gd name="connsiteX1" fmla="*/ 1340305 w 1340305"/>
              <a:gd name="connsiteY1" fmla="*/ 0 h 1338805"/>
              <a:gd name="connsiteX2" fmla="*/ 1340305 w 1340305"/>
              <a:gd name="connsiteY2" fmla="*/ 123825 h 1338805"/>
              <a:gd name="connsiteX3" fmla="*/ 123825 w 1340305"/>
              <a:gd name="connsiteY3" fmla="*/ 123825 h 1338805"/>
              <a:gd name="connsiteX4" fmla="*/ 123825 w 1340305"/>
              <a:gd name="connsiteY4" fmla="*/ 1338805 h 1338805"/>
              <a:gd name="connsiteX5" fmla="*/ 0 w 1340305"/>
              <a:gd name="connsiteY5" fmla="*/ 1338805 h 1338805"/>
              <a:gd name="connsiteX6" fmla="*/ 0 w 1340305"/>
              <a:gd name="connsiteY6" fmla="*/ 61913 h 1338805"/>
              <a:gd name="connsiteX7" fmla="*/ 61913 w 1340305"/>
              <a:gd name="connsiteY7" fmla="*/ 0 h 13388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40305" h="1338805">
                <a:moveTo>
                  <a:pt x="61913" y="0"/>
                </a:moveTo>
                <a:lnTo>
                  <a:pt x="1340305" y="0"/>
                </a:lnTo>
                <a:lnTo>
                  <a:pt x="1340305" y="123825"/>
                </a:lnTo>
                <a:lnTo>
                  <a:pt x="123825" y="123825"/>
                </a:lnTo>
                <a:lnTo>
                  <a:pt x="123825" y="1338805"/>
                </a:lnTo>
                <a:lnTo>
                  <a:pt x="0" y="1338805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pic>
        <p:nvPicPr>
          <p:cNvPr id="4" name="Picture 3" descr="log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43032" y="182880"/>
            <a:ext cx="1497874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8632" y="182880"/>
            <a:ext cx="1342103" cy="640080"/>
          </a:xfrm>
          <a:prstGeom prst="rect">
            <a:avLst/>
          </a:prstGeom>
        </p:spPr>
      </p:pic>
      <p:pic>
        <p:nvPicPr>
          <p:cNvPr id="4" name="Picture 3" descr="log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43032" y="182880"/>
            <a:ext cx="1497874" cy="640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82296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005BAB"/>
                </a:solidFill>
              </a:rPr>
              <a:t>Axiomes de Kolmogorov (rappel)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024128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rPr dirty="0"/>
              <a:t>P(E) ≥ 0 ; P(Ω) = 1</a:t>
            </a:r>
          </a:p>
          <a:p>
            <a:pPr>
              <a:defRPr sz="2200"/>
            </a:pPr>
            <a:r>
              <a:rPr dirty="0"/>
              <a:t>Si E∩F = ∅ </a:t>
            </a:r>
            <a:r>
              <a:rPr dirty="0" err="1"/>
              <a:t>alors</a:t>
            </a:r>
            <a:r>
              <a:rPr dirty="0"/>
              <a:t> P(E∪F) = P(E) + P(F)</a:t>
            </a:r>
          </a:p>
          <a:p>
            <a:pPr>
              <a:defRPr sz="2200"/>
            </a:pPr>
            <a:r>
              <a:rPr dirty="0"/>
              <a:t>Extension à </a:t>
            </a:r>
            <a:r>
              <a:rPr dirty="0" err="1"/>
              <a:t>une</a:t>
            </a:r>
            <a:r>
              <a:rPr dirty="0"/>
              <a:t> </a:t>
            </a:r>
            <a:r>
              <a:rPr dirty="0" err="1"/>
              <a:t>réunion</a:t>
            </a:r>
            <a:r>
              <a:rPr dirty="0"/>
              <a:t> </a:t>
            </a:r>
            <a:r>
              <a:rPr dirty="0" err="1"/>
              <a:t>dénombrable</a:t>
            </a:r>
            <a:r>
              <a:rPr dirty="0"/>
              <a:t> </a:t>
            </a:r>
            <a:r>
              <a:rPr dirty="0" err="1"/>
              <a:t>d’événements</a:t>
            </a:r>
            <a:r>
              <a:rPr dirty="0"/>
              <a:t> incompatibles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8632" y="182880"/>
            <a:ext cx="1342103" cy="640080"/>
          </a:xfrm>
          <a:prstGeom prst="rect">
            <a:avLst/>
          </a:prstGeom>
        </p:spPr>
      </p:pic>
      <p:pic>
        <p:nvPicPr>
          <p:cNvPr id="4" name="Picture 3" descr="log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43032" y="182880"/>
            <a:ext cx="1497874" cy="640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82296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005BAB"/>
                </a:solidFill>
              </a:rPr>
              <a:t>Formules utiles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024128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Inclusion‑exclusion : P(E∪F) = P(E) + P(F) − P(E∩F)</a:t>
            </a:r>
          </a:p>
          <a:p>
            <a:pPr>
              <a:defRPr sz="2200"/>
            </a:pPr>
            <a:r>
              <a:t>Probabilité totale (partition)</a:t>
            </a:r>
          </a:p>
          <a:p>
            <a:pPr>
              <a:defRPr sz="2200"/>
            </a:pPr>
            <a:r>
              <a:t>P(E^c)=1−P(E) ; Sur Ω équiprobable : P(E)=|E|/|Ω|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8632" y="182880"/>
            <a:ext cx="1342103" cy="640080"/>
          </a:xfrm>
          <a:prstGeom prst="rect">
            <a:avLst/>
          </a:prstGeom>
        </p:spPr>
      </p:pic>
      <p:pic>
        <p:nvPicPr>
          <p:cNvPr id="4" name="Picture 3" descr="log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43032" y="182880"/>
            <a:ext cx="1497874" cy="640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82296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005BAB"/>
                </a:solidFill>
              </a:rPr>
              <a:t>Probabilité conditionnelle &amp; indépendance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521208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/>
            </a:pPr>
            <a:r>
              <a:t>P(A|B) = P(A∩B)/P(B), si P(B) &gt; 0</a:t>
            </a:r>
          </a:p>
          <a:p>
            <a:pPr>
              <a:defRPr sz="2100"/>
            </a:pPr>
            <a:r>
              <a:t>Indépendance : P(A∩B) = P(A)P(B)</a:t>
            </a:r>
          </a:p>
          <a:p>
            <a:pPr>
              <a:defRPr sz="2100"/>
            </a:pPr>
            <a:r>
              <a:t>Indépendance mutuelle vs. par paire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554480"/>
            <a:ext cx="521208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/>
            </a:pPr>
            <a:r>
              <a:t>Chaînes conditionnelles (règle des produits)</a:t>
            </a:r>
          </a:p>
          <a:p>
            <a:pPr>
              <a:defRPr sz="2100"/>
            </a:pPr>
            <a:r>
              <a:t>Ex : tirage sans remise (hypergéométrique)</a:t>
            </a:r>
          </a:p>
          <a:p>
            <a:pPr>
              <a:defRPr sz="2100"/>
            </a:pPr>
            <a:r>
              <a:t>Ex : lancer de dés &amp; événements indépendants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8632" y="182880"/>
            <a:ext cx="1342103" cy="640080"/>
          </a:xfrm>
          <a:prstGeom prst="rect">
            <a:avLst/>
          </a:prstGeom>
        </p:spPr>
      </p:pic>
      <p:pic>
        <p:nvPicPr>
          <p:cNvPr id="4" name="Picture 3" descr="log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43032" y="182880"/>
            <a:ext cx="1497874" cy="640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82296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005BAB"/>
                </a:solidFill>
              </a:rPr>
              <a:t>Formule de Bayes (discrète)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024128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P(A|B) = P(B|A)P(A) / Σ_i P(B|A_i)P(A_i)</a:t>
            </a:r>
          </a:p>
          <a:p>
            <a:pPr>
              <a:defRPr sz="2200"/>
            </a:pPr>
            <a:r>
              <a:t>Interprétation cause→effet</a:t>
            </a:r>
          </a:p>
          <a:p>
            <a:pPr lvl="1">
              <a:defRPr sz="2000"/>
            </a:pPr>
            <a:r>
              <a:t>Cas binaire : P(H|D)= P(D|H)P(H) / (P(D|H)P(H)+P(D|¬H)P(¬H))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CD81A2A-6ED4-4EF4-A14C-912D31E148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8882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7981" y="365125"/>
            <a:ext cx="5391957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Variables aléatoires &amp; moments</a:t>
            </a: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1661932C-CA15-4E17-B115-FAE7CBEE47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196001" y="1"/>
            <a:ext cx="1154841" cy="625027"/>
          </a:xfrm>
          <a:custGeom>
            <a:avLst/>
            <a:gdLst>
              <a:gd name="connsiteX0" fmla="*/ 4784 w 1155142"/>
              <a:gd name="connsiteY0" fmla="*/ 0 h 625027"/>
              <a:gd name="connsiteX1" fmla="*/ 1150358 w 1155142"/>
              <a:gd name="connsiteY1" fmla="*/ 0 h 625027"/>
              <a:gd name="connsiteX2" fmla="*/ 1155142 w 1155142"/>
              <a:gd name="connsiteY2" fmla="*/ 47456 h 625027"/>
              <a:gd name="connsiteX3" fmla="*/ 577571 w 1155142"/>
              <a:gd name="connsiteY3" fmla="*/ 625027 h 625027"/>
              <a:gd name="connsiteX4" fmla="*/ 0 w 1155142"/>
              <a:gd name="connsiteY4" fmla="*/ 47456 h 6250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625027">
                <a:moveTo>
                  <a:pt x="4784" y="0"/>
                </a:moveTo>
                <a:lnTo>
                  <a:pt x="1150358" y="0"/>
                </a:lnTo>
                <a:lnTo>
                  <a:pt x="1155142" y="47456"/>
                </a:lnTo>
                <a:cubicBezTo>
                  <a:pt x="1155142" y="366440"/>
                  <a:pt x="896555" y="625027"/>
                  <a:pt x="577571" y="625027"/>
                </a:cubicBezTo>
                <a:cubicBezTo>
                  <a:pt x="258587" y="625027"/>
                  <a:pt x="0" y="366440"/>
                  <a:pt x="0" y="47456"/>
                </a:cubicBezTo>
                <a:close/>
              </a:path>
            </a:pathLst>
          </a:custGeom>
          <a:solidFill>
            <a:schemeClr val="accent5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837981" y="1825625"/>
            <a:ext cx="5391957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200"/>
            </a:pPr>
            <a:r>
              <a:rPr lang="en-US" sz="2200"/>
              <a:t>Variable X : Ω→ℝ ; distribution (loi) de X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200"/>
            </a:pPr>
            <a:r>
              <a:rPr lang="en-US" sz="2200"/>
              <a:t>E[X], Var(X)=E[X^2]−(E[X])^2 ; σ = √Var(X)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200"/>
            </a:pPr>
            <a:r>
              <a:rPr lang="en-US" sz="2200"/>
              <a:t>Linéarité de E ; Cov(X,Y), Corr(X,Y)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8590ADD5-9383-4D3D-9047-3DA2593CCB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06412" y="3423959"/>
            <a:ext cx="540681" cy="540822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5130" y="2205611"/>
            <a:ext cx="3780066" cy="1802800"/>
          </a:xfrm>
          <a:custGeom>
            <a:avLst/>
            <a:gdLst/>
            <a:ahLst/>
            <a:cxnLst/>
            <a:rect l="l" t="t" r="r" b="b"/>
            <a:pathLst>
              <a:path w="4114800" h="5712488">
                <a:moveTo>
                  <a:pt x="133155" y="0"/>
                </a:moveTo>
                <a:lnTo>
                  <a:pt x="3981645" y="0"/>
                </a:lnTo>
                <a:cubicBezTo>
                  <a:pt x="4055184" y="0"/>
                  <a:pt x="4114800" y="59616"/>
                  <a:pt x="4114800" y="133155"/>
                </a:cubicBezTo>
                <a:lnTo>
                  <a:pt x="4114800" y="5579333"/>
                </a:lnTo>
                <a:cubicBezTo>
                  <a:pt x="4114800" y="5652872"/>
                  <a:pt x="4055184" y="5712488"/>
                  <a:pt x="3981645" y="5712488"/>
                </a:cubicBezTo>
                <a:lnTo>
                  <a:pt x="133155" y="5712488"/>
                </a:lnTo>
                <a:cubicBezTo>
                  <a:pt x="59616" y="5712488"/>
                  <a:pt x="0" y="5652872"/>
                  <a:pt x="0" y="5579333"/>
                </a:cubicBezTo>
                <a:lnTo>
                  <a:pt x="0" y="133155"/>
                </a:lnTo>
                <a:cubicBezTo>
                  <a:pt x="0" y="59616"/>
                  <a:pt x="59616" y="0"/>
                  <a:pt x="133155" y="0"/>
                </a:cubicBezTo>
                <a:close/>
              </a:path>
            </a:pathLst>
          </a:custGeom>
        </p:spPr>
      </p:pic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DABE3E45-88CF-45D8-8D40-C773324D93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47844" y="1"/>
            <a:ext cx="2066410" cy="1621879"/>
          </a:xfrm>
          <a:custGeom>
            <a:avLst/>
            <a:gdLst>
              <a:gd name="connsiteX0" fmla="*/ 0 w 2066948"/>
              <a:gd name="connsiteY0" fmla="*/ 0 h 1621879"/>
              <a:gd name="connsiteX1" fmla="*/ 123825 w 2066948"/>
              <a:gd name="connsiteY1" fmla="*/ 0 h 1621879"/>
              <a:gd name="connsiteX2" fmla="*/ 123825 w 2066948"/>
              <a:gd name="connsiteY2" fmla="*/ 1452620 h 1621879"/>
              <a:gd name="connsiteX3" fmla="*/ 1881378 w 2066948"/>
              <a:gd name="connsiteY3" fmla="*/ 436017 h 1621879"/>
              <a:gd name="connsiteX4" fmla="*/ 1127572 w 2066948"/>
              <a:gd name="connsiteY4" fmla="*/ 0 h 1621879"/>
              <a:gd name="connsiteX5" fmla="*/ 1374887 w 2066948"/>
              <a:gd name="connsiteY5" fmla="*/ 0 h 1621879"/>
              <a:gd name="connsiteX6" fmla="*/ 2035969 w 2066948"/>
              <a:gd name="connsiteY6" fmla="*/ 382391 h 1621879"/>
              <a:gd name="connsiteX7" fmla="*/ 2058648 w 2066948"/>
              <a:gd name="connsiteY7" fmla="*/ 466963 h 1621879"/>
              <a:gd name="connsiteX8" fmla="*/ 2035969 w 2066948"/>
              <a:gd name="connsiteY8" fmla="*/ 489642 h 1621879"/>
              <a:gd name="connsiteX9" fmla="*/ 92869 w 2066948"/>
              <a:gd name="connsiteY9" fmla="*/ 1613592 h 1621879"/>
              <a:gd name="connsiteX10" fmla="*/ 61913 w 2066948"/>
              <a:gd name="connsiteY10" fmla="*/ 1621879 h 1621879"/>
              <a:gd name="connsiteX11" fmla="*/ 0 w 2066948"/>
              <a:gd name="connsiteY11" fmla="*/ 1559967 h 16218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066948" h="1621879">
                <a:moveTo>
                  <a:pt x="0" y="0"/>
                </a:moveTo>
                <a:lnTo>
                  <a:pt x="123825" y="0"/>
                </a:lnTo>
                <a:lnTo>
                  <a:pt x="123825" y="1452620"/>
                </a:lnTo>
                <a:lnTo>
                  <a:pt x="1881378" y="436017"/>
                </a:lnTo>
                <a:lnTo>
                  <a:pt x="1127572" y="0"/>
                </a:lnTo>
                <a:lnTo>
                  <a:pt x="1374887" y="0"/>
                </a:lnTo>
                <a:lnTo>
                  <a:pt x="2035969" y="382391"/>
                </a:lnTo>
                <a:cubicBezTo>
                  <a:pt x="2065582" y="399479"/>
                  <a:pt x="2075745" y="437340"/>
                  <a:pt x="2058648" y="466963"/>
                </a:cubicBezTo>
                <a:cubicBezTo>
                  <a:pt x="2053219" y="476384"/>
                  <a:pt x="2045389" y="484204"/>
                  <a:pt x="2035969" y="489642"/>
                </a:cubicBezTo>
                <a:lnTo>
                  <a:pt x="92869" y="1613592"/>
                </a:lnTo>
                <a:cubicBezTo>
                  <a:pt x="83458" y="1619031"/>
                  <a:pt x="72780" y="1621889"/>
                  <a:pt x="61913" y="1621879"/>
                </a:cubicBezTo>
                <a:cubicBezTo>
                  <a:pt x="27719" y="1621879"/>
                  <a:pt x="0" y="1594161"/>
                  <a:pt x="0" y="1559967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9CD1692-827B-4C8D-B4A1-134FD04CF4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135583" y="1027906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B91ECDA9-56DC-4270-8F33-01C5637B8C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463438">
            <a:off x="7454638" y="5166682"/>
            <a:ext cx="1835247" cy="2024785"/>
          </a:xfrm>
          <a:custGeom>
            <a:avLst/>
            <a:gdLst>
              <a:gd name="connsiteX0" fmla="*/ 1801138 w 1835725"/>
              <a:gd name="connsiteY0" fmla="*/ 1622662 h 2024785"/>
              <a:gd name="connsiteX1" fmla="*/ 1835717 w 1835725"/>
              <a:gd name="connsiteY1" fmla="*/ 1680254 h 2024785"/>
              <a:gd name="connsiteX2" fmla="*/ 1812568 w 1835725"/>
              <a:gd name="connsiteY2" fmla="*/ 1877193 h 2024785"/>
              <a:gd name="connsiteX3" fmla="*/ 1776210 w 1835725"/>
              <a:gd name="connsiteY3" fmla="*/ 2024785 h 2024785"/>
              <a:gd name="connsiteX4" fmla="*/ 1655772 w 1835725"/>
              <a:gd name="connsiteY4" fmla="*/ 1983449 h 2024785"/>
              <a:gd name="connsiteX5" fmla="*/ 1687591 w 1835725"/>
              <a:gd name="connsiteY5" fmla="*/ 1854495 h 2024785"/>
              <a:gd name="connsiteX6" fmla="*/ 1708939 w 1835725"/>
              <a:gd name="connsiteY6" fmla="*/ 1673301 h 2024785"/>
              <a:gd name="connsiteX7" fmla="*/ 1778129 w 1835725"/>
              <a:gd name="connsiteY7" fmla="*/ 1615979 h 2024785"/>
              <a:gd name="connsiteX8" fmla="*/ 1801138 w 1835725"/>
              <a:gd name="connsiteY8" fmla="*/ 1622662 h 2024785"/>
              <a:gd name="connsiteX9" fmla="*/ 1585229 w 1835725"/>
              <a:gd name="connsiteY9" fmla="*/ 764759 h 2024785"/>
              <a:gd name="connsiteX10" fmla="*/ 1623024 w 1835725"/>
              <a:gd name="connsiteY10" fmla="*/ 792810 h 2024785"/>
              <a:gd name="connsiteX11" fmla="*/ 1777614 w 1835725"/>
              <a:gd name="connsiteY11" fmla="*/ 1157141 h 2024785"/>
              <a:gd name="connsiteX12" fmla="*/ 1733799 w 1835725"/>
              <a:gd name="connsiteY12" fmla="*/ 1235532 h 2024785"/>
              <a:gd name="connsiteX13" fmla="*/ 1716464 w 1835725"/>
              <a:gd name="connsiteY13" fmla="*/ 1237722 h 2024785"/>
              <a:gd name="connsiteX14" fmla="*/ 1716464 w 1835725"/>
              <a:gd name="connsiteY14" fmla="*/ 1237913 h 2024785"/>
              <a:gd name="connsiteX15" fmla="*/ 1655409 w 1835725"/>
              <a:gd name="connsiteY15" fmla="*/ 1191717 h 2024785"/>
              <a:gd name="connsiteX16" fmla="*/ 1513200 w 1835725"/>
              <a:gd name="connsiteY16" fmla="*/ 856627 h 2024785"/>
              <a:gd name="connsiteX17" fmla="*/ 1538499 w 1835725"/>
              <a:gd name="connsiteY17" fmla="*/ 770415 h 2024785"/>
              <a:gd name="connsiteX18" fmla="*/ 1585229 w 1835725"/>
              <a:gd name="connsiteY18" fmla="*/ 764759 h 2024785"/>
              <a:gd name="connsiteX19" fmla="*/ 477919 w 1835725"/>
              <a:gd name="connsiteY19" fmla="*/ 21437 h 2024785"/>
              <a:gd name="connsiteX20" fmla="*/ 509236 w 1835725"/>
              <a:gd name="connsiteY20" fmla="*/ 84182 h 2024785"/>
              <a:gd name="connsiteX21" fmla="*/ 445829 w 1835725"/>
              <a:gd name="connsiteY21" fmla="*/ 139871 h 2024785"/>
              <a:gd name="connsiteX22" fmla="*/ 437447 w 1835725"/>
              <a:gd name="connsiteY22" fmla="*/ 139395 h 2024785"/>
              <a:gd name="connsiteX23" fmla="*/ 73211 w 1835725"/>
              <a:gd name="connsiteY23" fmla="*/ 137204 h 2024785"/>
              <a:gd name="connsiteX24" fmla="*/ 749 w 1835725"/>
              <a:gd name="connsiteY24" fmla="*/ 84082 h 2024785"/>
              <a:gd name="connsiteX25" fmla="*/ 53871 w 1835725"/>
              <a:gd name="connsiteY25" fmla="*/ 11621 h 2024785"/>
              <a:gd name="connsiteX26" fmla="*/ 58352 w 1835725"/>
              <a:gd name="connsiteY26" fmla="*/ 11093 h 2024785"/>
              <a:gd name="connsiteX27" fmla="*/ 454020 w 1835725"/>
              <a:gd name="connsiteY27" fmla="*/ 13474 h 2024785"/>
              <a:gd name="connsiteX28" fmla="*/ 477919 w 1835725"/>
              <a:gd name="connsiteY28" fmla="*/ 21437 h 2024785"/>
              <a:gd name="connsiteX29" fmla="*/ 957797 w 1835725"/>
              <a:gd name="connsiteY29" fmla="*/ 167970 h 2024785"/>
              <a:gd name="connsiteX30" fmla="*/ 1286982 w 1835725"/>
              <a:gd name="connsiteY30" fmla="*/ 387616 h 2024785"/>
              <a:gd name="connsiteX31" fmla="*/ 1293725 w 1835725"/>
              <a:gd name="connsiteY31" fmla="*/ 477075 h 2024785"/>
              <a:gd name="connsiteX32" fmla="*/ 1245453 w 1835725"/>
              <a:gd name="connsiteY32" fmla="*/ 499154 h 2024785"/>
              <a:gd name="connsiteX33" fmla="*/ 1245167 w 1835725"/>
              <a:gd name="connsiteY33" fmla="*/ 499154 h 2024785"/>
              <a:gd name="connsiteX34" fmla="*/ 1203638 w 1835725"/>
              <a:gd name="connsiteY34" fmla="*/ 484104 h 2024785"/>
              <a:gd name="connsiteX35" fmla="*/ 900647 w 1835725"/>
              <a:gd name="connsiteY35" fmla="*/ 281508 h 2024785"/>
              <a:gd name="connsiteX36" fmla="*/ 872454 w 1835725"/>
              <a:gd name="connsiteY36" fmla="*/ 196164 h 2024785"/>
              <a:gd name="connsiteX37" fmla="*/ 957797 w 1835725"/>
              <a:gd name="connsiteY37" fmla="*/ 167970 h 2024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835725" h="2024785">
                <a:moveTo>
                  <a:pt x="1801138" y="1622662"/>
                </a:moveTo>
                <a:cubicBezTo>
                  <a:pt x="1822105" y="1633400"/>
                  <a:pt x="1836117" y="1655372"/>
                  <a:pt x="1835717" y="1680254"/>
                </a:cubicBezTo>
                <a:cubicBezTo>
                  <a:pt x="1832093" y="1746382"/>
                  <a:pt x="1824354" y="1812154"/>
                  <a:pt x="1812568" y="1877193"/>
                </a:cubicBezTo>
                <a:lnTo>
                  <a:pt x="1776210" y="2024785"/>
                </a:lnTo>
                <a:lnTo>
                  <a:pt x="1655772" y="1983449"/>
                </a:lnTo>
                <a:lnTo>
                  <a:pt x="1687591" y="1854495"/>
                </a:lnTo>
                <a:cubicBezTo>
                  <a:pt x="1698455" y="1794657"/>
                  <a:pt x="1705590" y="1734142"/>
                  <a:pt x="1708939" y="1673301"/>
                </a:cubicBezTo>
                <a:cubicBezTo>
                  <a:pt x="1712216" y="1638363"/>
                  <a:pt x="1743190" y="1612703"/>
                  <a:pt x="1778129" y="1615979"/>
                </a:cubicBezTo>
                <a:cubicBezTo>
                  <a:pt x="1786387" y="1616753"/>
                  <a:pt x="1794149" y="1619084"/>
                  <a:pt x="1801138" y="1622662"/>
                </a:cubicBezTo>
                <a:close/>
                <a:moveTo>
                  <a:pt x="1585229" y="764759"/>
                </a:moveTo>
                <a:cubicBezTo>
                  <a:pt x="1600438" y="768789"/>
                  <a:pt x="1614156" y="778436"/>
                  <a:pt x="1623024" y="792810"/>
                </a:cubicBezTo>
                <a:cubicBezTo>
                  <a:pt x="1689575" y="907319"/>
                  <a:pt x="1741505" y="1029715"/>
                  <a:pt x="1777614" y="1157141"/>
                </a:cubicBezTo>
                <a:cubicBezTo>
                  <a:pt x="1787149" y="1190888"/>
                  <a:pt x="1767537" y="1225969"/>
                  <a:pt x="1733799" y="1235532"/>
                </a:cubicBezTo>
                <a:cubicBezTo>
                  <a:pt x="1728151" y="1237046"/>
                  <a:pt x="1722312" y="1237780"/>
                  <a:pt x="1716464" y="1237722"/>
                </a:cubicBezTo>
                <a:lnTo>
                  <a:pt x="1716464" y="1237913"/>
                </a:lnTo>
                <a:cubicBezTo>
                  <a:pt x="1688070" y="1237913"/>
                  <a:pt x="1663124" y="1219044"/>
                  <a:pt x="1655409" y="1191717"/>
                </a:cubicBezTo>
                <a:cubicBezTo>
                  <a:pt x="1622214" y="1074512"/>
                  <a:pt x="1574437" y="961936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53325" y="762319"/>
                  <a:pt x="1570022" y="760730"/>
                  <a:pt x="1585229" y="764759"/>
                </a:cubicBezTo>
                <a:close/>
                <a:moveTo>
                  <a:pt x="477919" y="21437"/>
                </a:moveTo>
                <a:cubicBezTo>
                  <a:pt x="499341" y="33775"/>
                  <a:pt x="512445" y="58102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89834" y="-4456"/>
                  <a:pt x="322735" y="-3656"/>
                  <a:pt x="454020" y="13474"/>
                </a:cubicBezTo>
                <a:cubicBezTo>
                  <a:pt x="462713" y="14543"/>
                  <a:pt x="470778" y="17324"/>
                  <a:pt x="477919" y="21437"/>
                </a:cubicBezTo>
                <a:close/>
                <a:moveTo>
                  <a:pt x="957797" y="167970"/>
                </a:move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8235" y="164811"/>
                  <a:pt x="926445" y="152188"/>
                  <a:pt x="957797" y="167970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75F47824-961D-465D-84F9-EAE11BC617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07753" y="6033795"/>
            <a:ext cx="1990546" cy="824205"/>
          </a:xfrm>
          <a:custGeom>
            <a:avLst/>
            <a:gdLst>
              <a:gd name="connsiteX0" fmla="*/ 995532 w 1991064"/>
              <a:gd name="connsiteY0" fmla="*/ 0 h 824205"/>
              <a:gd name="connsiteX1" fmla="*/ 1984823 w 1991064"/>
              <a:gd name="connsiteY1" fmla="*/ 784423 h 824205"/>
              <a:gd name="connsiteX2" fmla="*/ 1991064 w 1991064"/>
              <a:gd name="connsiteY2" fmla="*/ 824205 h 824205"/>
              <a:gd name="connsiteX3" fmla="*/ 0 w 1991064"/>
              <a:gd name="connsiteY3" fmla="*/ 824205 h 824205"/>
              <a:gd name="connsiteX4" fmla="*/ 6241 w 1991064"/>
              <a:gd name="connsiteY4" fmla="*/ 784423 h 824205"/>
              <a:gd name="connsiteX5" fmla="*/ 995532 w 1991064"/>
              <a:gd name="connsiteY5" fmla="*/ 0 h 824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91064" h="824205">
                <a:moveTo>
                  <a:pt x="995532" y="0"/>
                </a:moveTo>
                <a:cubicBezTo>
                  <a:pt x="1483521" y="0"/>
                  <a:pt x="1890663" y="336754"/>
                  <a:pt x="1984823" y="784423"/>
                </a:cubicBezTo>
                <a:lnTo>
                  <a:pt x="1991064" y="824205"/>
                </a:lnTo>
                <a:lnTo>
                  <a:pt x="0" y="824205"/>
                </a:lnTo>
                <a:lnTo>
                  <a:pt x="6241" y="784423"/>
                </a:lnTo>
                <a:cubicBezTo>
                  <a:pt x="100402" y="336754"/>
                  <a:pt x="507544" y="0"/>
                  <a:pt x="99553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FEC9DA3E-C1D7-472D-B7C0-F71AE41FBA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48870" y="5519196"/>
            <a:ext cx="1339955" cy="1338805"/>
          </a:xfrm>
          <a:custGeom>
            <a:avLst/>
            <a:gdLst>
              <a:gd name="connsiteX0" fmla="*/ 61913 w 1340305"/>
              <a:gd name="connsiteY0" fmla="*/ 0 h 1338805"/>
              <a:gd name="connsiteX1" fmla="*/ 1340305 w 1340305"/>
              <a:gd name="connsiteY1" fmla="*/ 0 h 1338805"/>
              <a:gd name="connsiteX2" fmla="*/ 1340305 w 1340305"/>
              <a:gd name="connsiteY2" fmla="*/ 123825 h 1338805"/>
              <a:gd name="connsiteX3" fmla="*/ 123825 w 1340305"/>
              <a:gd name="connsiteY3" fmla="*/ 123825 h 1338805"/>
              <a:gd name="connsiteX4" fmla="*/ 123825 w 1340305"/>
              <a:gd name="connsiteY4" fmla="*/ 1338805 h 1338805"/>
              <a:gd name="connsiteX5" fmla="*/ 0 w 1340305"/>
              <a:gd name="connsiteY5" fmla="*/ 1338805 h 1338805"/>
              <a:gd name="connsiteX6" fmla="*/ 0 w 1340305"/>
              <a:gd name="connsiteY6" fmla="*/ 61913 h 1338805"/>
              <a:gd name="connsiteX7" fmla="*/ 61913 w 1340305"/>
              <a:gd name="connsiteY7" fmla="*/ 0 h 13388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40305" h="1338805">
                <a:moveTo>
                  <a:pt x="61913" y="0"/>
                </a:moveTo>
                <a:lnTo>
                  <a:pt x="1340305" y="0"/>
                </a:lnTo>
                <a:lnTo>
                  <a:pt x="1340305" y="123825"/>
                </a:lnTo>
                <a:lnTo>
                  <a:pt x="123825" y="123825"/>
                </a:lnTo>
                <a:lnTo>
                  <a:pt x="123825" y="1338805"/>
                </a:lnTo>
                <a:lnTo>
                  <a:pt x="0" y="1338805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pic>
        <p:nvPicPr>
          <p:cNvPr id="4" name="Picture 3" descr="log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43032" y="182880"/>
            <a:ext cx="1497874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8632" y="182880"/>
            <a:ext cx="1342103" cy="640080"/>
          </a:xfrm>
          <a:prstGeom prst="rect">
            <a:avLst/>
          </a:prstGeom>
        </p:spPr>
      </p:pic>
      <p:pic>
        <p:nvPicPr>
          <p:cNvPr id="4" name="Picture 3" descr="log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43032" y="182880"/>
            <a:ext cx="1497874" cy="640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82296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005BAB"/>
                </a:solidFill>
              </a:rPr>
              <a:t>Lois discrètes usuelles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521208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/>
            </a:pPr>
            <a:r>
              <a:t>Bernoulli(p) : P(X=1)=p</a:t>
            </a:r>
          </a:p>
          <a:p>
            <a:pPr>
              <a:defRPr sz="2100"/>
            </a:pPr>
            <a:r>
              <a:t>Binomiale(n,p) : somme de n Bernoulli</a:t>
            </a:r>
          </a:p>
          <a:p>
            <a:pPr>
              <a:defRPr sz="2100"/>
            </a:pPr>
            <a:r>
              <a:t>Géométrique(p) : 1er succès</a:t>
            </a:r>
          </a:p>
          <a:p>
            <a:pPr>
              <a:defRPr sz="2100"/>
            </a:pPr>
            <a:r>
              <a:t>Poisson(λ) : événements rares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554480"/>
            <a:ext cx="521208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/>
            </a:pPr>
            <a:r>
              <a:t>Moments :</a:t>
            </a:r>
          </a:p>
          <a:p>
            <a:pPr>
              <a:defRPr sz="2100"/>
            </a:pPr>
            <a:r>
              <a:t>Bernoulli : E=p, Var=p(1−p)</a:t>
            </a:r>
          </a:p>
          <a:p>
            <a:pPr>
              <a:defRPr sz="2100"/>
            </a:pPr>
            <a:r>
              <a:t>Binomiale : E=np, Var=np(1−p)</a:t>
            </a:r>
          </a:p>
          <a:p>
            <a:pPr>
              <a:defRPr sz="2100"/>
            </a:pPr>
            <a:r>
              <a:t>Poisson : E=λ, Var=λ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8632" y="182880"/>
            <a:ext cx="1342103" cy="640080"/>
          </a:xfrm>
          <a:prstGeom prst="rect">
            <a:avLst/>
          </a:prstGeom>
        </p:spPr>
      </p:pic>
      <p:pic>
        <p:nvPicPr>
          <p:cNvPr id="4" name="Picture 3" descr="log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43032" y="182880"/>
            <a:ext cx="1497874" cy="640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82296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005BAB"/>
                </a:solidFill>
              </a:rPr>
              <a:t>Lois continues usuelles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521208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/>
            </a:pPr>
            <a:r>
              <a:t>Uniforme[a,b] : densité constante</a:t>
            </a:r>
          </a:p>
          <a:p>
            <a:pPr>
              <a:defRPr sz="2100"/>
            </a:pPr>
            <a:r>
              <a:t>Exponentielle(λ) : sans mémoire</a:t>
            </a:r>
          </a:p>
          <a:p>
            <a:pPr>
              <a:defRPr sz="2100"/>
            </a:pPr>
            <a:r>
              <a:t>Normale(μ,σ²) : centrale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554480"/>
            <a:ext cx="521208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/>
            </a:pPr>
            <a:r>
              <a:t>Moments :</a:t>
            </a:r>
          </a:p>
          <a:p>
            <a:pPr>
              <a:defRPr sz="2100"/>
            </a:pPr>
            <a:r>
              <a:t>Uniforme : E=(a+b)/2, Var=(b−a)²/12</a:t>
            </a:r>
          </a:p>
          <a:p>
            <a:pPr>
              <a:defRPr sz="2100"/>
            </a:pPr>
            <a:r>
              <a:t>Exp : E=1/λ, Var=1/λ²</a:t>
            </a:r>
          </a:p>
          <a:p>
            <a:pPr>
              <a:defRPr sz="2100"/>
            </a:pPr>
            <a:r>
              <a:t>Normale : E=μ, Var=σ²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8632" y="182880"/>
            <a:ext cx="1342103" cy="640080"/>
          </a:xfrm>
          <a:prstGeom prst="rect">
            <a:avLst/>
          </a:prstGeom>
        </p:spPr>
      </p:pic>
      <p:pic>
        <p:nvPicPr>
          <p:cNvPr id="4" name="Picture 3" descr="log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43032" y="182880"/>
            <a:ext cx="1497874" cy="640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82296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005BAB"/>
                </a:solidFill>
              </a:rPr>
              <a:t>Exemple guidé — Bayes (diagnostic)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024128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Pr(H)=0.01, Pr(¬H)=0.99 ; Pr(T+|H)=0.95 ; Pr(T+|¬H)=0.05</a:t>
            </a:r>
          </a:p>
          <a:p>
            <a:pPr>
              <a:defRPr sz="2200"/>
            </a:pPr>
            <a:r>
              <a:t>Pr(H|T+) ≈ 0.95·0.01 / (0.95·0.01 + 0.05·0.99) ≈ 0.161</a:t>
            </a:r>
          </a:p>
          <a:p>
            <a:pPr>
              <a:defRPr sz="2200"/>
            </a:pPr>
            <a:r>
              <a:t>Interprétation : impact de la prévalence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8632" y="182880"/>
            <a:ext cx="1342103" cy="640080"/>
          </a:xfrm>
          <a:prstGeom prst="rect">
            <a:avLst/>
          </a:prstGeom>
        </p:spPr>
      </p:pic>
      <p:pic>
        <p:nvPicPr>
          <p:cNvPr id="4" name="Picture 3" descr="log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43032" y="182880"/>
            <a:ext cx="1497874" cy="640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82296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005BAB"/>
                </a:solidFill>
              </a:rPr>
              <a:t>Exemple guidé — Dénombrement → probabilité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024128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Main de 5 cartes sans remise :</a:t>
            </a:r>
          </a:p>
          <a:p>
            <a:pPr>
              <a:defRPr sz="2200"/>
            </a:pPr>
            <a:r>
              <a:t>P(≥1 as) = 1 − P(0 as) = 1 − C(48,5)/C(52,5)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8632" y="182880"/>
            <a:ext cx="1342103" cy="640080"/>
          </a:xfrm>
          <a:prstGeom prst="rect">
            <a:avLst/>
          </a:prstGeom>
        </p:spPr>
      </p:pic>
      <p:pic>
        <p:nvPicPr>
          <p:cNvPr id="4" name="Picture 3" descr="log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43032" y="182880"/>
            <a:ext cx="1497874" cy="640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82296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005BAB"/>
                </a:solidFill>
              </a:rPr>
              <a:t>Exemples de calcul de moments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024128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X~Bin(n,p) : E=np, Var=np(1−p)</a:t>
            </a:r>
          </a:p>
          <a:p>
            <a:pPr>
              <a:defRPr sz="2200"/>
            </a:pPr>
            <a:r>
              <a:t>X~Poisson(λ) : E=Var=λ</a:t>
            </a:r>
          </a:p>
          <a:p>
            <a:pPr>
              <a:defRPr sz="2200"/>
            </a:pPr>
            <a:r>
              <a:t>X~Exp(λ) : E=1/λ, Var=1/λ²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8632" y="182880"/>
            <a:ext cx="1342103" cy="640080"/>
          </a:xfrm>
          <a:prstGeom prst="rect">
            <a:avLst/>
          </a:prstGeom>
        </p:spPr>
      </p:pic>
      <p:pic>
        <p:nvPicPr>
          <p:cNvPr id="4" name="Picture 3" descr="log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43032" y="182880"/>
            <a:ext cx="1497874" cy="640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82296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005BAB"/>
                </a:solidFill>
              </a:rPr>
              <a:t>Indépendance vs corrélation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024128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Indépendance ⇒ corrélation nulle</a:t>
            </a:r>
          </a:p>
          <a:p>
            <a:pPr>
              <a:defRPr sz="2200"/>
            </a:pPr>
            <a:r>
              <a:t>Corrélation nulle ⇏ indépendance (contre‑exemples)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8632" y="182880"/>
            <a:ext cx="1342103" cy="640080"/>
          </a:xfrm>
          <a:prstGeom prst="rect">
            <a:avLst/>
          </a:prstGeom>
        </p:spPr>
      </p:pic>
      <p:pic>
        <p:nvPicPr>
          <p:cNvPr id="4" name="Picture 3" descr="log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43032" y="182880"/>
            <a:ext cx="1497874" cy="640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82296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005BAB"/>
                </a:solidFill>
              </a:rPr>
              <a:t>Erreurs fréquentes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024128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Disjonction vs. incompatibilité</a:t>
            </a:r>
          </a:p>
          <a:p>
            <a:pPr>
              <a:defRPr sz="2200"/>
            </a:pPr>
            <a:r>
              <a:t>Oublier l’inclusion‑exclusion</a:t>
            </a:r>
          </a:p>
          <a:p>
            <a:pPr>
              <a:defRPr sz="2200"/>
            </a:pPr>
            <a:r>
              <a:t>Confondre P(A|B) et P(B|A)</a:t>
            </a:r>
          </a:p>
          <a:p>
            <a:pPr>
              <a:defRPr sz="2200"/>
            </a:pPr>
            <a:r>
              <a:t>Corrélation ≠ causalité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8632" y="182880"/>
            <a:ext cx="1342103" cy="640080"/>
          </a:xfrm>
          <a:prstGeom prst="rect">
            <a:avLst/>
          </a:prstGeom>
        </p:spPr>
      </p:pic>
      <p:pic>
        <p:nvPicPr>
          <p:cNvPr id="4" name="Picture 3" descr="log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43032" y="182880"/>
            <a:ext cx="1497874" cy="640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82296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005BAB"/>
                </a:solidFill>
              </a:rPr>
              <a:t>Mini‑projet (teaser)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024128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Classification sous incertitude (Bayes naïf)</a:t>
            </a:r>
          </a:p>
          <a:p>
            <a:pPr>
              <a:defRPr sz="2200"/>
            </a:pPr>
            <a:r>
              <a:t>Comparer à des heuristiques simples</a:t>
            </a:r>
          </a:p>
          <a:p>
            <a:pPr>
              <a:defRPr sz="2200"/>
            </a:pPr>
            <a:r>
              <a:t>Étudier l’impact de la prévalence &amp; du lissage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8632" y="182880"/>
            <a:ext cx="1342103" cy="640080"/>
          </a:xfrm>
          <a:prstGeom prst="rect">
            <a:avLst/>
          </a:prstGeom>
        </p:spPr>
      </p:pic>
      <p:pic>
        <p:nvPicPr>
          <p:cNvPr id="4" name="Picture 3" descr="log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43032" y="182880"/>
            <a:ext cx="1497874" cy="640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82296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005BAB"/>
                </a:solidFill>
              </a:rPr>
              <a:t>Exercices (TD)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024128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Choisir A/A’/C/C’ selon remise/ordre</a:t>
            </a:r>
          </a:p>
          <a:p>
            <a:pPr>
              <a:defRPr sz="2200"/>
            </a:pPr>
            <a:r>
              <a:t>Probabilités équiprobables (dés/cartes)</a:t>
            </a:r>
          </a:p>
          <a:p>
            <a:pPr>
              <a:defRPr sz="2200"/>
            </a:pPr>
            <a:r>
              <a:t>Bayes (médical / spam)</a:t>
            </a:r>
          </a:p>
          <a:p>
            <a:pPr>
              <a:defRPr sz="2200"/>
            </a:pPr>
            <a:r>
              <a:t>Moments (binomiale, Poisson, exponentielle)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8632" y="182880"/>
            <a:ext cx="1342103" cy="640080"/>
          </a:xfrm>
          <a:prstGeom prst="rect">
            <a:avLst/>
          </a:prstGeom>
        </p:spPr>
      </p:pic>
      <p:pic>
        <p:nvPicPr>
          <p:cNvPr id="4" name="Picture 3" descr="log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43032" y="182880"/>
            <a:ext cx="1497874" cy="640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82296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005BAB"/>
                </a:solidFill>
              </a:rPr>
              <a:t>À retenir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024128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Dénombrer → Modéliser Ω → Axiomes &amp; formules</a:t>
            </a:r>
          </a:p>
          <a:p>
            <a:pPr>
              <a:defRPr sz="2200"/>
            </a:pPr>
            <a:r>
              <a:t>Conditionnement &amp; indépendance : cruciaux</a:t>
            </a:r>
          </a:p>
          <a:p>
            <a:pPr>
              <a:defRPr sz="2200"/>
            </a:pPr>
            <a:r>
              <a:t>Moments résument la loi</a:t>
            </a:r>
          </a:p>
          <a:p>
            <a:pPr>
              <a:defRPr sz="2200"/>
            </a:pPr>
            <a:r>
              <a:t>Bayes lie vraisemblance &amp; a priori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1371</TotalTime>
  <Words>1056</Words>
  <Application>Microsoft Office PowerPoint</Application>
  <PresentationFormat>Custom</PresentationFormat>
  <Paragraphs>103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PowerPoint Presentation</vt:lpstr>
      <vt:lpstr>Plan de la séance</vt:lpstr>
      <vt:lpstr>PowerPoint Presentation</vt:lpstr>
      <vt:lpstr>Exemples de dénombrement (rapide)</vt:lpstr>
      <vt:lpstr>Univers et événements</vt:lpstr>
      <vt:lpstr>PowerPoint Presentation</vt:lpstr>
      <vt:lpstr>PowerPoint Presentation</vt:lpstr>
      <vt:lpstr>PowerPoint Presentation</vt:lpstr>
      <vt:lpstr>PowerPoint Presentation</vt:lpstr>
      <vt:lpstr>Variables aléatoires &amp; moments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Geovany Batista Polo Laguerre</cp:lastModifiedBy>
  <cp:revision>2</cp:revision>
  <dcterms:created xsi:type="dcterms:W3CDTF">2013-01-27T09:14:16Z</dcterms:created>
  <dcterms:modified xsi:type="dcterms:W3CDTF">2025-10-10T19:01:58Z</dcterms:modified>
  <cp:category/>
</cp:coreProperties>
</file>